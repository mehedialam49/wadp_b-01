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68" r:id="rId3"/>
    <p:sldId id="258" r:id="rId4"/>
    <p:sldId id="259" r:id="rId5"/>
    <p:sldId id="369" r:id="rId6"/>
    <p:sldId id="260" r:id="rId7"/>
    <p:sldId id="261" r:id="rId8"/>
    <p:sldId id="262" r:id="rId9"/>
    <p:sldId id="263" r:id="rId10"/>
    <p:sldId id="370" r:id="rId11"/>
    <p:sldId id="371" r:id="rId12"/>
    <p:sldId id="372" r:id="rId13"/>
    <p:sldId id="264" r:id="rId14"/>
    <p:sldId id="265" r:id="rId15"/>
    <p:sldId id="266" r:id="rId16"/>
    <p:sldId id="373" r:id="rId17"/>
    <p:sldId id="267" r:id="rId18"/>
    <p:sldId id="268" r:id="rId19"/>
    <p:sldId id="269" r:id="rId20"/>
    <p:sldId id="374" r:id="rId21"/>
    <p:sldId id="376" r:id="rId22"/>
    <p:sldId id="270" r:id="rId23"/>
    <p:sldId id="377" r:id="rId24"/>
    <p:sldId id="271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Play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5dqWodrzyLWBTze6K4tLWc04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>
          <a:extLst>
            <a:ext uri="{FF2B5EF4-FFF2-40B4-BE49-F238E27FC236}">
              <a16:creationId xmlns:a16="http://schemas.microsoft.com/office/drawing/2014/main" id="{7A92B005-CA45-9AB0-14F8-52262D28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:notes">
            <a:extLst>
              <a:ext uri="{FF2B5EF4-FFF2-40B4-BE49-F238E27FC236}">
                <a16:creationId xmlns:a16="http://schemas.microsoft.com/office/drawing/2014/main" id="{4459F83F-0C56-F9C0-4F26-8A3FF1BFF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:notes">
            <a:extLst>
              <a:ext uri="{FF2B5EF4-FFF2-40B4-BE49-F238E27FC236}">
                <a16:creationId xmlns:a16="http://schemas.microsoft.com/office/drawing/2014/main" id="{E2AD2E2A-AB7F-5A53-87C2-6AFEBFE28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947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BF892CDE-CFC5-4DD5-08C7-F373FE5B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>
            <a:extLst>
              <a:ext uri="{FF2B5EF4-FFF2-40B4-BE49-F238E27FC236}">
                <a16:creationId xmlns:a16="http://schemas.microsoft.com/office/drawing/2014/main" id="{196D4D03-6EDA-F977-B0E8-B4202454A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>
            <a:extLst>
              <a:ext uri="{FF2B5EF4-FFF2-40B4-BE49-F238E27FC236}">
                <a16:creationId xmlns:a16="http://schemas.microsoft.com/office/drawing/2014/main" id="{3F4D0F53-2069-5CC7-76DE-F72CE6973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104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BCEB0DE2-7107-A660-3B88-2F68BAC2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>
            <a:extLst>
              <a:ext uri="{FF2B5EF4-FFF2-40B4-BE49-F238E27FC236}">
                <a16:creationId xmlns:a16="http://schemas.microsoft.com/office/drawing/2014/main" id="{9C902A17-A415-CCF8-74EA-01B7E2EF4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>
            <a:extLst>
              <a:ext uri="{FF2B5EF4-FFF2-40B4-BE49-F238E27FC236}">
                <a16:creationId xmlns:a16="http://schemas.microsoft.com/office/drawing/2014/main" id="{5019A22E-E3CE-B87C-9696-C6153BD6D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677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id="{5098B4ED-6D1C-E376-4919-2773BD57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id="{C110BDD8-C02A-864F-9023-1E8DC95D5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id="{FFFBCFCD-1F85-8937-B83F-31C94793A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854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id="{D85BEEAA-A4E2-1530-94C8-65C96461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id="{3D91862E-03DA-CDAC-1276-F0814035A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id="{81FB41D8-B1FD-5368-1503-C13C4512A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1665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>
          <a:extLst>
            <a:ext uri="{FF2B5EF4-FFF2-40B4-BE49-F238E27FC236}">
              <a16:creationId xmlns:a16="http://schemas.microsoft.com/office/drawing/2014/main" id="{50A630CD-E9C5-AEEF-37AF-0C34D51A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>
            <a:extLst>
              <a:ext uri="{FF2B5EF4-FFF2-40B4-BE49-F238E27FC236}">
                <a16:creationId xmlns:a16="http://schemas.microsoft.com/office/drawing/2014/main" id="{BFFDB4AD-F625-EEB0-B4B9-2EF045123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:notes">
            <a:extLst>
              <a:ext uri="{FF2B5EF4-FFF2-40B4-BE49-F238E27FC236}">
                <a16:creationId xmlns:a16="http://schemas.microsoft.com/office/drawing/2014/main" id="{A2601D0D-2099-A5E1-A2C7-616C423D5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5175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B7CAB7-9612-1BB0-A2EC-06CE1AAB5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9D6C7-11B3-C738-1510-DBE16DB04E08}"/>
              </a:ext>
            </a:extLst>
          </p:cNvPr>
          <p:cNvSpPr/>
          <p:nvPr userDrawn="1"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1191BAE-7C5B-0A80-6F2D-D0190D18E234}"/>
              </a:ext>
            </a:extLst>
          </p:cNvPr>
          <p:cNvSpPr/>
          <p:nvPr userDrawn="1"/>
        </p:nvSpPr>
        <p:spPr>
          <a:xfrm>
            <a:off x="872309" y="1646645"/>
            <a:ext cx="3352800" cy="478972"/>
          </a:xfrm>
          <a:prstGeom prst="parallelogram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056488-6100-84A2-6A94-AE41407EDA0D}"/>
              </a:ext>
            </a:extLst>
          </p:cNvPr>
          <p:cNvGrpSpPr/>
          <p:nvPr userDrawn="1"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  <a:solidFill>
            <a:schemeClr val="bg2">
              <a:lumMod val="50000"/>
            </a:schemeClr>
          </a:solidFill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645301C3-9A01-7FB8-9418-FA3DDC08B68A}"/>
                </a:ext>
              </a:extLst>
            </p:cNvPr>
            <p:cNvSpPr/>
            <p:nvPr userDrawn="1"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71E8945-1258-30CC-CA88-86FC75C46440}"/>
                </a:ext>
              </a:extLst>
            </p:cNvPr>
            <p:cNvSpPr/>
            <p:nvPr userDrawn="1"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25A4FCD0-4CB2-B9DF-9785-9EE913E92651}"/>
                </a:ext>
              </a:extLst>
            </p:cNvPr>
            <p:cNvSpPr/>
            <p:nvPr userDrawn="1"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6FBD-D7EA-4B09-0A6F-0F777842C1C0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-1" y="2843640"/>
            <a:ext cx="12191999" cy="1170717"/>
          </a:xfrm>
        </p:spPr>
        <p:txBody>
          <a:bodyPr anchor="ctr">
            <a:normAutofit/>
          </a:bodyPr>
          <a:lstStyle>
            <a:lvl1pPr algn="ctr">
              <a:defRPr sz="5400" b="1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78" name="Parallelogram 1377">
            <a:extLst>
              <a:ext uri="{FF2B5EF4-FFF2-40B4-BE49-F238E27FC236}">
                <a16:creationId xmlns:a16="http://schemas.microsoft.com/office/drawing/2014/main" id="{84335B70-DF9C-CC22-1C4C-D0D0A7A2C9D2}"/>
              </a:ext>
            </a:extLst>
          </p:cNvPr>
          <p:cNvSpPr/>
          <p:nvPr userDrawn="1"/>
        </p:nvSpPr>
        <p:spPr>
          <a:xfrm>
            <a:off x="830218" y="1571171"/>
            <a:ext cx="3352800" cy="478972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8E139F5-CAB4-E9C9-03CF-6506671E67D9}"/>
              </a:ext>
            </a:extLst>
          </p:cNvPr>
          <p:cNvGrpSpPr/>
          <p:nvPr userDrawn="1"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381" name="Straight Connector 1380">
              <a:extLst>
                <a:ext uri="{FF2B5EF4-FFF2-40B4-BE49-F238E27FC236}">
                  <a16:creationId xmlns:a16="http://schemas.microsoft.com/office/drawing/2014/main" id="{102DA1AC-8CA2-BCAE-3CF1-CBEFFFD813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76800" y="522514"/>
              <a:ext cx="7315200" cy="0"/>
            </a:xfrm>
            <a:prstGeom prst="line">
              <a:avLst/>
            </a:prstGeom>
            <a:ln w="762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2F2C9467-A5F5-68BC-D665-80CF553A55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608320" y="667656"/>
              <a:ext cx="6583680" cy="0"/>
            </a:xfrm>
            <a:prstGeom prst="line">
              <a:avLst/>
            </a:prstGeom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Straight Connector 1382">
              <a:extLst>
                <a:ext uri="{FF2B5EF4-FFF2-40B4-BE49-F238E27FC236}">
                  <a16:creationId xmlns:a16="http://schemas.microsoft.com/office/drawing/2014/main" id="{7DDE37CA-6CA8-91A5-0964-16E09EC980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39840" y="809170"/>
              <a:ext cx="5852160" cy="0"/>
            </a:xfrm>
            <a:prstGeom prst="line">
              <a:avLst/>
            </a:prstGeom>
            <a:ln w="381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C2C83-5B4B-A658-7B91-3CE3541E94DF}"/>
              </a:ext>
            </a:extLst>
          </p:cNvPr>
          <p:cNvGrpSpPr/>
          <p:nvPr userDrawn="1"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028" name="Picture 4" descr="Python Logo PNG Transparent – Brands Logos">
              <a:extLst>
                <a:ext uri="{FF2B5EF4-FFF2-40B4-BE49-F238E27FC236}">
                  <a16:creationId xmlns:a16="http://schemas.microsoft.com/office/drawing/2014/main" id="{AFC39FE0-99F6-CC7E-B041-EC521B1BF8B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7681" y="6183837"/>
              <a:ext cx="546282" cy="544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Django Icon #266158 - Free Icons Library">
              <a:extLst>
                <a:ext uri="{FF2B5EF4-FFF2-40B4-BE49-F238E27FC236}">
                  <a16:creationId xmlns:a16="http://schemas.microsoft.com/office/drawing/2014/main" id="{27AEB5A1-FA25-7B4D-CFD0-FBBF6253F81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6790832" y="6183837"/>
              <a:ext cx="549981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33183F-EBC5-D171-8FF5-9915EC5D6446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B1427CF-405C-6829-726C-98A3856722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A04F4E1-CA26-7C1E-C1D7-26C243592D5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B9EFAAA-0989-4A24-68C4-790FD43440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4CA33C0-5D5A-1910-CD8C-CA7BE6E9604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9C55F3-BCC6-F9D0-9ABB-1F8576622B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4CDEC1-B176-DB97-4A57-FC43D7F02A5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D043D98-F0A5-C838-F2A1-95821F6021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02485" y="5158622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DC6B5B4-2F74-D9EC-D039-D3727E905A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3D0CA6F-CCA5-1C22-4F89-C02126D39F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29C3376-AE93-D01C-5830-BA4AB452FE4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68546" y="1397768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BC915B9-4166-C586-8D4B-D6987653EA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536BE4B-0D59-0A21-8677-1653E9A86A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68ECA9C-BB31-4BB0-BF9A-9D0043D412F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0BB765D-CAAE-4E01-7835-EC7B57B2198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E375847-5A52-48E6-9845-FF2B762803B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F74EC4E-81C1-19A0-A7D6-DFD7028AC9B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9F6BF39-C008-733B-704C-F71C61133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Google Shape;82;p24">
            <a:extLst>
              <a:ext uri="{FF2B5EF4-FFF2-40B4-BE49-F238E27FC236}">
                <a16:creationId xmlns:a16="http://schemas.microsoft.com/office/drawing/2014/main" id="{939AB8A8-8D2A-A013-67EB-C4E197A2B203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72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Title Slide with Lef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847877-5D6B-7E1F-1910-95A2DE69C1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71850" y="2379789"/>
            <a:ext cx="8261350" cy="1170717"/>
          </a:xfrm>
        </p:spPr>
        <p:txBody>
          <a:bodyPr anchor="ctr">
            <a:noAutofit/>
          </a:bodyPr>
          <a:lstStyle>
            <a:lvl1pPr algn="l"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71850" y="3550506"/>
            <a:ext cx="826135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50885" y="5406423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7C2E8-5C61-D760-DCB2-DB31DA7E912E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2675288-14E1-8ADC-6E7E-8D3DF45BE80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AE8CC54-6792-17F8-D3C9-4A99D1D935E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5FEFFF2-2FB9-013F-F6F9-96E63237EBC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097202-1921-D6B5-6904-3E8473D308C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5B4D36-31BD-2B11-7091-0C619DFF937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0C04F2-F462-CEE1-9E14-E8151C4DA8E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FCD9DF6-1793-1128-30BC-DA7B29573F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44D1F40-9288-A7A2-C163-51168B15EB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FE4014B-1F1D-F7B0-FED8-E76E76636A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831050-0D74-D02E-2CEE-307F17E58B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2036875-E85B-466F-2452-B0409C38C97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E01668D-867A-25BA-3259-8C8D51BB451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9B7FAF6-7C20-DAD7-700E-F5A7B83DAAB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5E2A4-F29F-8C32-F8AD-61A29C9B1D3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FFA4C9-DB73-C7DB-AA0D-30F15D23E42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B4CEEF-A15F-EA54-A0E6-9054241D368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9BD0E5-C11A-AA1D-EC3E-61D0D0C308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Rectangle: Single Corner Rounded 28">
            <a:extLst>
              <a:ext uri="{FF2B5EF4-FFF2-40B4-BE49-F238E27FC236}">
                <a16:creationId xmlns:a16="http://schemas.microsoft.com/office/drawing/2014/main" id="{43BA5D5C-7867-1634-4DB9-18CED4FEF7D9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CCED47-A41C-516D-F607-824EF0EB2BE8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1061756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ecture N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53CA52-31B9-3A77-2823-E105AD74D8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5E40E-9EDA-E7EF-89E4-C121E1460818}"/>
              </a:ext>
            </a:extLst>
          </p:cNvPr>
          <p:cNvSpPr/>
          <p:nvPr userDrawn="1"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BD198B-9F33-990A-63F4-89329A571653}"/>
              </a:ext>
            </a:extLst>
          </p:cNvPr>
          <p:cNvSpPr/>
          <p:nvPr userDrawn="1"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>
            <a:solidFill>
              <a:srgbClr val="40404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A41CF4-848C-75CA-B77E-5EA051D892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68750" y="2379789"/>
            <a:ext cx="7150100" cy="1170717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LECTURE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A8EF618-4395-091C-D1E2-728642290B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68750" y="3550506"/>
            <a:ext cx="7150100" cy="645203"/>
          </a:xfrm>
        </p:spPr>
        <p:txBody>
          <a:bodyPr anchor="ctr"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of the lecture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437CE62-271A-52C6-9C2A-A245E26BA299}"/>
              </a:ext>
            </a:extLst>
          </p:cNvPr>
          <p:cNvCxnSpPr>
            <a:cxnSpLocks/>
          </p:cNvCxnSpPr>
          <p:nvPr userDrawn="1"/>
        </p:nvCxnSpPr>
        <p:spPr>
          <a:xfrm>
            <a:off x="2063750" y="3096483"/>
            <a:ext cx="12827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B1A3A9C-7406-43B0-3CE6-D18BDAE90A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51050" y="2542620"/>
            <a:ext cx="1282700" cy="558800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Lecture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D3C4B52-917D-CB33-CBA4-0FF1D415E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51050" y="3276600"/>
            <a:ext cx="1270000" cy="1001713"/>
          </a:xfr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99B20-E6CC-B71E-C7D0-7E5636457248}"/>
              </a:ext>
            </a:extLst>
          </p:cNvPr>
          <p:cNvGrpSpPr/>
          <p:nvPr userDrawn="1"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5" name="Picture 4" descr="Python Logo PNG Transparent – Brands Logos">
              <a:extLst>
                <a:ext uri="{FF2B5EF4-FFF2-40B4-BE49-F238E27FC236}">
                  <a16:creationId xmlns:a16="http://schemas.microsoft.com/office/drawing/2014/main" id="{7A333CA6-CC1A-43D6-A93F-94EE046B12F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Django Icon #266158 - Free Icons Library">
              <a:extLst>
                <a:ext uri="{FF2B5EF4-FFF2-40B4-BE49-F238E27FC236}">
                  <a16:creationId xmlns:a16="http://schemas.microsoft.com/office/drawing/2014/main" id="{5CF5C5B8-D89A-8C50-093F-5A7C50D975A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2475941" y="4827717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26DF6-9475-9193-1ABA-DCCB2E39B4B0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B2DC3E2-513C-2FC0-A79B-AA2D4107228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FA83FBD-9BAB-FF7F-E029-9BA4EBE075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1AAD538-FF94-65D4-4C5E-30DD890783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B8C9B5-F5A9-3BCA-909D-8F6FC85578D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257332A-CE3C-09E7-EE65-A670DBADFC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4E14C98-7284-C5BC-6D77-C05C6D4BC0D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D2FF988-C167-702C-EC57-1A0001C0DD3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6485F8C-5277-B97B-52FA-B6366EB93E3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694840C-316F-D2BA-321F-651A3EBD573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ADD3ECF-D3D5-EAC5-411F-E13E13301A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BB5171-7BA9-E2F2-C2A9-DD58651CDF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CED1A7A3-B815-71DC-9D32-9ABD788CDA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CA931C7-9424-829E-4CB9-2868DF5AF0D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A908515-A8E6-6AF5-22BC-3CA2DE55AD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04036C4-BCF4-00D8-85F5-BFF24B5CAEE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735749C-98ED-1D52-D759-A43399C079A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4D0BBF1-0096-3974-2366-DA7603219AE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749464A5-FC53-CB85-A728-217E6696E5A3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8371-F443-1F1B-34A0-A3A7DD2B426C}"/>
              </a:ext>
            </a:extLst>
          </p:cNvPr>
          <p:cNvSpPr txBox="1"/>
          <p:nvPr userDrawn="1"/>
        </p:nvSpPr>
        <p:spPr>
          <a:xfrm>
            <a:off x="1" y="6203484"/>
            <a:ext cx="22605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Md. Shakil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Assessor &amp; Trainer 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National Skill Development Authority</a:t>
            </a:r>
          </a:p>
        </p:txBody>
      </p:sp>
    </p:spTree>
    <p:extLst>
      <p:ext uri="{BB962C8B-B14F-4D97-AF65-F5344CB8AC3E}">
        <p14:creationId xmlns:p14="http://schemas.microsoft.com/office/powerpoint/2010/main" val="3640881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BEA09-0983-13EF-017F-E168EAC9C3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24E01BB4-D3EF-3D83-72A6-6A76F24274B1}"/>
              </a:ext>
            </a:extLst>
          </p:cNvPr>
          <p:cNvSpPr/>
          <p:nvPr userDrawn="1"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1E6DFA7-5710-3053-244D-4016136191F9}"/>
              </a:ext>
            </a:extLst>
          </p:cNvPr>
          <p:cNvSpPr/>
          <p:nvPr userDrawn="1"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2" descr="Python White Icons – Free Download SVG, PNG, GIF">
            <a:extLst>
              <a:ext uri="{FF2B5EF4-FFF2-40B4-BE49-F238E27FC236}">
                <a16:creationId xmlns:a16="http://schemas.microsoft.com/office/drawing/2014/main" id="{D7C1F87D-D409-F070-539D-F55A3A6314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2" y="455550"/>
            <a:ext cx="498352" cy="49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FA0F5532-CEFD-DD01-3C61-7C7BF58704CD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A7441D8B-0A58-19FB-F5E0-2EC0933BF08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4499C0E-5B25-DFA7-3BF0-1ADA8930B3B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62660B8D-0147-A7AE-C2DB-27D8A8B65BB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3527535-22ED-8539-7B16-0CF5347C3A9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92D96E9-8A64-0879-2D3D-37798FB195A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01D60CF-033F-1D8F-61C2-B4199336D4B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7BD762B-C204-08C9-8638-1519DDDC1C3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0F51B538-5CA3-E2D8-AEF9-2212CC86026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205D912-E0CB-2A83-56D1-F7957BAE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9ABEC6B6-5F4B-2EA6-A409-19F91C2901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B3F15070-1191-9EAF-E085-52C88E9F89C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544368E-82E6-63D3-A0D0-653CAEF1E7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0D23E49-2470-7FDA-27B3-522A3D070A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9F63876-6F02-61B8-027A-3DA41FAE3D4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8211E1D1-DAB6-3006-023F-A7036481263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332AE41-DE54-00AB-1F67-C74C9B273A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F7E6F3F-CE48-9EA0-B0DA-87DB0CD201D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E2E9-3828-C057-6425-1FA36A465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4AFB-8290-AA3D-E10E-6D55800C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Arial Black" panose="020B0A04020102020204" pitchFamily="34" charset="0"/>
                <a:ea typeface="Roboto Black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82;p24">
            <a:extLst>
              <a:ext uri="{FF2B5EF4-FFF2-40B4-BE49-F238E27FC236}">
                <a16:creationId xmlns:a16="http://schemas.microsoft.com/office/drawing/2014/main" id="{5217E10A-CA63-7A57-03CB-9061CD99B1F2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7534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ntent Slide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F6B822-4878-CE66-7914-B9E9D84C36D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Single Corner Rounded 25">
            <a:extLst>
              <a:ext uri="{FF2B5EF4-FFF2-40B4-BE49-F238E27FC236}">
                <a16:creationId xmlns:a16="http://schemas.microsoft.com/office/drawing/2014/main" id="{F7D579D1-CC19-5325-72BE-FE4596D337A2}"/>
              </a:ext>
            </a:extLst>
          </p:cNvPr>
          <p:cNvSpPr/>
          <p:nvPr userDrawn="1"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8A3CB3-4581-A09E-32A6-394F7A573927}"/>
              </a:ext>
            </a:extLst>
          </p:cNvPr>
          <p:cNvGrpSpPr/>
          <p:nvPr userDrawn="1"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7" name="Picture 4" descr="Python Logo PNG Transparent – Brands Logos">
              <a:extLst>
                <a:ext uri="{FF2B5EF4-FFF2-40B4-BE49-F238E27FC236}">
                  <a16:creationId xmlns:a16="http://schemas.microsoft.com/office/drawing/2014/main" id="{ACBEDCC2-030A-070F-7FD7-1CF4E1F41B4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0885" y="4827717"/>
              <a:ext cx="458999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Django Icon #266158 - Free Icons Library">
              <a:extLst>
                <a:ext uri="{FF2B5EF4-FFF2-40B4-BE49-F238E27FC236}">
                  <a16:creationId xmlns:a16="http://schemas.microsoft.com/office/drawing/2014/main" id="{8523BCE1-36FE-F100-F6D2-D0D5BE1F5F0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7" t="3918" r="4003" b="4265"/>
            <a:stretch/>
          </p:blipFill>
          <p:spPr bwMode="auto">
            <a:xfrm>
              <a:off x="1942404" y="4200954"/>
              <a:ext cx="458318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03245A72-678A-458C-04E8-FFFECEBCFF08}"/>
              </a:ext>
            </a:extLst>
          </p:cNvPr>
          <p:cNvGrpSpPr/>
          <p:nvPr userDrawn="1"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409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3813B801-927E-41EF-E02A-C398474DF08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4069544" y="1730274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24768EDF-C4F7-EE70-2452-DA34FAD43A4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6701767" y="5810699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1F19D82-B836-AEB3-199F-964897E06B5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2560513" y="411276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D534662-92A1-EF8A-2498-E0A9CE0C766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489055" y="1754701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7442E89-295C-84D6-CF2C-E9F77F887B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9913853" y="271205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0B096B7-93D7-04DD-85B3-ED370A1B7F3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7156690" y="236969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04253CE-6429-6222-0EB5-262CC0CA20F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5297988" y="4333517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8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99EFC06-ECCA-24D3-6B58-669DB109E7A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427406" y="1194495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9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B5714F2-44F7-8A13-FFC2-96636CF4816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8719037" y="4903250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0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53E2BE3A-9459-8B43-3B96-94255A2A8CC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4946076" y="2992647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1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F922DF5F-0D6F-72C2-006D-8A06723FCD1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06" r="77120" b="71014"/>
            <a:stretch/>
          </p:blipFill>
          <p:spPr bwMode="auto">
            <a:xfrm>
              <a:off x="524906" y="5095532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2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442A20B5-85A2-B92C-666F-0F03F69A07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04" t="44021" r="11432" b="33099"/>
            <a:stretch/>
          </p:blipFill>
          <p:spPr bwMode="auto">
            <a:xfrm>
              <a:off x="8547640" y="5420083"/>
              <a:ext cx="1292002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3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E4219F12-99D3-9621-34F2-540A9AD61C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2000086" y="914244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4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40E4C70-DA73-269B-37B0-476783D4BD6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941" t="61985" r="4529" b="15135"/>
            <a:stretch/>
          </p:blipFill>
          <p:spPr bwMode="auto">
            <a:xfrm>
              <a:off x="9543811" y="1761186"/>
              <a:ext cx="1062909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5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76C7E3F3-66B5-F596-12C8-C3C50F0724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01" t="1646" r="48019" b="75474"/>
            <a:stretch/>
          </p:blipFill>
          <p:spPr bwMode="auto">
            <a:xfrm>
              <a:off x="5919214" y="565240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6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16AB8705-8B3D-C217-A81C-5F9CF63A029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1925437" y="5786616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17" name="Picture 12" descr="Geometric Abstract Shapes Vector PNG Images, Geometric Shape, Geometric,  Shapes, Line PNG Image For Free Download">
              <a:extLst>
                <a:ext uri="{FF2B5EF4-FFF2-40B4-BE49-F238E27FC236}">
                  <a16:creationId xmlns:a16="http://schemas.microsoft.com/office/drawing/2014/main" id="{D2F325EA-8E70-A44B-4B9E-04286285621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>
              <a:biLevel thresh="25000"/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35" t="32144" r="71485" b="44976"/>
            <a:stretch/>
          </p:blipFill>
          <p:spPr bwMode="auto">
            <a:xfrm>
              <a:off x="-254928" y="608531"/>
              <a:ext cx="883366" cy="8833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96" name="Text Placeholder 3">
            <a:extLst>
              <a:ext uri="{FF2B5EF4-FFF2-40B4-BE49-F238E27FC236}">
                <a16:creationId xmlns:a16="http://schemas.microsoft.com/office/drawing/2014/main" id="{B56125E8-88A8-608F-3323-4FDE51F03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7" y="1684338"/>
            <a:ext cx="10952623" cy="4894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Google Shape;82;p24">
            <a:extLst>
              <a:ext uri="{FF2B5EF4-FFF2-40B4-BE49-F238E27FC236}">
                <a16:creationId xmlns:a16="http://schemas.microsoft.com/office/drawing/2014/main" id="{61FC9036-995B-EA9F-9472-E98C0D17A70C}"/>
              </a:ext>
            </a:extLst>
          </p:cNvPr>
          <p:cNvSpPr txBox="1"/>
          <p:nvPr userDrawn="1"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1656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18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9" name="Google Shape;19;p18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8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18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5" name="Google Shape;25;p18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" name="Google Shape;26;p18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18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8" name="Google Shape;28;p18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29" name="Google Shape;29;p18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18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18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/>
        </p:nvSpPr>
        <p:spPr>
          <a:xfrm>
            <a:off x="0" y="0"/>
            <a:ext cx="22606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1311590" y="1365250"/>
            <a:ext cx="1864038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03516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>
            <a:spLocks noGrp="1"/>
          </p:cNvSpPr>
          <p:nvPr>
            <p:ph type="ctrTitle"/>
          </p:nvPr>
        </p:nvSpPr>
        <p:spPr>
          <a:xfrm>
            <a:off x="3371850" y="2379789"/>
            <a:ext cx="826135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subTitle" idx="1"/>
          </p:nvPr>
        </p:nvSpPr>
        <p:spPr>
          <a:xfrm>
            <a:off x="3371850" y="3550506"/>
            <a:ext cx="826135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19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19"/>
          <p:cNvGrpSpPr/>
          <p:nvPr/>
        </p:nvGrpSpPr>
        <p:grpSpPr>
          <a:xfrm>
            <a:off x="1771681" y="2363916"/>
            <a:ext cx="943855" cy="2130168"/>
            <a:chOff x="1950885" y="4827717"/>
            <a:chExt cx="458999" cy="1035906"/>
          </a:xfrm>
        </p:grpSpPr>
        <p:pic>
          <p:nvPicPr>
            <p:cNvPr id="39" name="Google Shape;39;p19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19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50885" y="5406423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6" name="Google Shape;46;p20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47;p20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51" name="Google Shape;51;p20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52" name="Google Shape;52;p20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0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/>
          <p:nvPr/>
        </p:nvSpPr>
        <p:spPr>
          <a:xfrm rot="5400000">
            <a:off x="3480278" y="-3200878"/>
            <a:ext cx="1079500" cy="80400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1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1"/>
          <p:cNvSpPr/>
          <p:nvPr/>
        </p:nvSpPr>
        <p:spPr>
          <a:xfrm rot="5400000">
            <a:off x="3426266" y="-3235766"/>
            <a:ext cx="1079500" cy="7932032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1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1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1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6" name="Google Shape;66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7" name="Google Shape;67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8" name="Google Shape;68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9" name="Google Shape;69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0" name="Google Shape;70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p21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8" name="Google Shape;78;p21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139949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21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8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83" name="Google Shape;83;p21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84" name="Google Shape;84;p21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1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22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88" name="Google Shape;88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89" name="Google Shape;89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0" name="Google Shape;90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1" name="Google Shape;91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3" name="Google Shape;93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5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1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4" r="4528" b="15134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5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2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2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2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108" name="Google Shape;108;p22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1" name="Google Shape;111;p22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2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13" name="Google Shape;113;p22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4" name="Google Shape;114;p22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8" name="Google Shape;118;p22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119" name="Google Shape;119;p22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2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123" name="Google Shape;123;p22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4" name="Google Shape;124;p22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125" name="Google Shape;125;p22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2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23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35" name="Google Shape;135;p23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136" name="Google Shape;136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4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3" name="Google Shape;143;p2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5" name="Google Shape;145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6" name="Google Shape;146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7" name="Google Shape;147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8" name="Google Shape;148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9" name="Google Shape;149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0" name="Google Shape;150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1" name="Google Shape;151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2" name="Google Shape;152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3" name="Google Shape;153;p2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4" name="Google Shape;154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5" name="Google Shape;155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7" name="Google Shape;157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8" name="Google Shape;158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0" name="Google Shape;160;p2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1" name="Google Shape;161;p2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168" name="Google Shape;168;p24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169" name="Google Shape;169;p2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5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6" name="Google Shape;176;p25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8" name="Google Shape;178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79" name="Google Shape;179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0" name="Google Shape;180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1" name="Google Shape;181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2" name="Google Shape;182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3" name="Google Shape;183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4" name="Google Shape;184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2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7" name="Google Shape;187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8" name="Google Shape;188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0" name="Google Shape;190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1" name="Google Shape;191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3" name="Google Shape;193;p2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4" name="Google Shape;194;p25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04" name="Google Shape;204;p25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5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1" name="Google Shape;211;p26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3" name="Google Shape;213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4" name="Google Shape;214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5" name="Google Shape;215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6" name="Google Shape;216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7" name="Google Shape;217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8" name="Google Shape;218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19" name="Google Shape;219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0" name="Google Shape;220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1" name="Google Shape;221;p2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2" name="Google Shape;222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3" name="Google Shape;223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5" name="Google Shape;225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6" name="Google Shape;226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8" name="Google Shape;228;p2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9" name="Google Shape;229;p26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6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36" name="Google Shape;236;p26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237" name="Google Shape;237;p26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6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1" name="Google Shape;241;p27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7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7" name="Google Shape;247;p27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5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0" name="Google Shape;250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1" name="Google Shape;251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2" name="Google Shape;252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3" name="Google Shape;253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4" name="Google Shape;254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5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6" name="Google Shape;256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1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27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4" r="4528" b="15134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2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27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27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7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70" name="Google Shape;270;p27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71" name="Google Shape;271;p27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7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2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8" name="Google Shape;278;p28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1" name="Google Shape;281;p28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282" name="Google Shape;282;p28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2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29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289" name="Google Shape;289;p29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93" name="Google Shape;293;p29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294" name="Google Shape;294;p29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9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2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1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1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309" name="Google Shape;309;p31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1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7" name="Google Shape;31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2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9" name="Google Shape;329;p3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1" name="Google Shape;331;p3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47" name="Google Shape;347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55" name="Google Shape;355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3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"/>
          <p:cNvSpPr txBox="1">
            <a:spLocks noGrp="1"/>
          </p:cNvSpPr>
          <p:nvPr>
            <p:ph type="ctrTitle"/>
          </p:nvPr>
        </p:nvSpPr>
        <p:spPr>
          <a:xfrm>
            <a:off x="-1" y="2101516"/>
            <a:ext cx="12191999" cy="263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800"/>
              <a:buFont typeface="Play"/>
              <a:buNone/>
            </a:pPr>
            <a:r>
              <a:rPr lang="en-US" sz="4000" dirty="0"/>
              <a:t>Welcome to the</a:t>
            </a:r>
            <a:br>
              <a:rPr lang="en-US" sz="4000" dirty="0"/>
            </a:br>
            <a:r>
              <a:rPr lang="en-US" sz="4000" dirty="0">
                <a:solidFill>
                  <a:schemeClr val="lt1"/>
                </a:solidFill>
              </a:rPr>
              <a:t>Web Application Development with Python L-4</a:t>
            </a:r>
            <a:br>
              <a:rPr lang="en-US" sz="4000" dirty="0"/>
            </a:br>
            <a:r>
              <a:rPr lang="en-US" sz="4000" dirty="0"/>
              <a:t>Training Program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2D1353-EC29-D173-4E49-A27864B5D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3306" y="1294718"/>
            <a:ext cx="7958880" cy="87481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MD. SHAKIL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0E8F5A-96F8-203D-40DE-60E100837EF4}"/>
              </a:ext>
            </a:extLst>
          </p:cNvPr>
          <p:cNvSpPr/>
          <p:nvPr/>
        </p:nvSpPr>
        <p:spPr>
          <a:xfrm>
            <a:off x="3633051" y="2076227"/>
            <a:ext cx="2220686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NSDA Certified 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Trainer &amp; Assessor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B8425-45AE-E74E-DE79-5E3F83DDB9C1}"/>
              </a:ext>
            </a:extLst>
          </p:cNvPr>
          <p:cNvSpPr/>
          <p:nvPr/>
        </p:nvSpPr>
        <p:spPr>
          <a:xfrm>
            <a:off x="5993240" y="2076227"/>
            <a:ext cx="5586050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Vendor Certified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IT Specialist in Python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A0B254-DAFC-93D4-6D46-77BAA5E9CE62}"/>
              </a:ext>
            </a:extLst>
          </p:cNvPr>
          <p:cNvSpPr/>
          <p:nvPr/>
        </p:nvSpPr>
        <p:spPr>
          <a:xfrm>
            <a:off x="3651711" y="3143046"/>
            <a:ext cx="3411561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Sr. Backend Developer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Ethical Den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5BCE71-0478-616A-0F45-CA8D237F4C1C}"/>
              </a:ext>
            </a:extLst>
          </p:cNvPr>
          <p:cNvSpPr/>
          <p:nvPr/>
        </p:nvSpPr>
        <p:spPr>
          <a:xfrm>
            <a:off x="7206806" y="3124383"/>
            <a:ext cx="43724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Asst.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Daffodil International Professional Training Institute</a:t>
            </a:r>
            <a:endParaRPr lang="en-US" sz="18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4FDC7C6-012E-ACCD-95BA-178BAFF3D9E7}"/>
              </a:ext>
            </a:extLst>
          </p:cNvPr>
          <p:cNvSpPr/>
          <p:nvPr/>
        </p:nvSpPr>
        <p:spPr>
          <a:xfrm>
            <a:off x="3651711" y="4209865"/>
            <a:ext cx="4055375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eShikhon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IT Training Institute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5C137C-92D1-5D73-B20F-BD4564ED4E46}"/>
              </a:ext>
            </a:extLst>
          </p:cNvPr>
          <p:cNvSpPr/>
          <p:nvPr/>
        </p:nvSpPr>
        <p:spPr>
          <a:xfrm>
            <a:off x="7865706" y="4191202"/>
            <a:ext cx="3713584" cy="937053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Lead Trainer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Wizard Software &amp; Technology</a:t>
            </a: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568C69-0745-4228-5ACD-E42A71B4632E}"/>
              </a:ext>
            </a:extLst>
          </p:cNvPr>
          <p:cNvSpPr/>
          <p:nvPr/>
        </p:nvSpPr>
        <p:spPr>
          <a:xfrm>
            <a:off x="3651712" y="5295348"/>
            <a:ext cx="3719472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+88 01793-299882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5594A1-DE42-BB77-00E0-C1DF5B226184}"/>
              </a:ext>
            </a:extLst>
          </p:cNvPr>
          <p:cNvSpPr/>
          <p:nvPr/>
        </p:nvSpPr>
        <p:spPr>
          <a:xfrm>
            <a:off x="7523915" y="5295347"/>
            <a:ext cx="4055375" cy="500763"/>
          </a:xfrm>
          <a:prstGeom prst="roundRect">
            <a:avLst>
              <a:gd name="adj" fmla="val 16461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shakil.eub.cse@gmail.com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CB43AE-627E-626F-853B-90FAB9074EE2}"/>
              </a:ext>
            </a:extLst>
          </p:cNvPr>
          <p:cNvSpPr/>
          <p:nvPr/>
        </p:nvSpPr>
        <p:spPr>
          <a:xfrm>
            <a:off x="3651712" y="5963202"/>
            <a:ext cx="4857806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https://www.linkedin.com/in/mrshakil015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5FD75C-7A85-517E-1896-241A31635B79}"/>
              </a:ext>
            </a:extLst>
          </p:cNvPr>
          <p:cNvSpPr/>
          <p:nvPr/>
        </p:nvSpPr>
        <p:spPr>
          <a:xfrm>
            <a:off x="8660409" y="5963202"/>
            <a:ext cx="2918881" cy="500763"/>
          </a:xfrm>
          <a:prstGeom prst="roundRect">
            <a:avLst>
              <a:gd name="adj" fmla="val 23914"/>
            </a:avLst>
          </a:prstGeom>
          <a:solidFill>
            <a:srgbClr val="000000"/>
          </a:solidFill>
          <a:ln w="3810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https://mrshakil.com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4147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lang="en-US"/>
              <a:t>Lecture</a:t>
            </a:r>
            <a:endParaRPr/>
          </a:p>
        </p:txBody>
      </p:sp>
      <p:sp>
        <p:nvSpPr>
          <p:cNvPr id="385" name="Google Shape;385;p3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</a:pPr>
            <a:r>
              <a:rPr lang="en-US" dirty="0"/>
              <a:t>08</a:t>
            </a:r>
            <a:endParaRPr dirty="0"/>
          </a:p>
        </p:txBody>
      </p:sp>
      <p:sp>
        <p:nvSpPr>
          <p:cNvPr id="386" name="Google Shape;386;p3"/>
          <p:cNvSpPr txBox="1"/>
          <p:nvPr/>
        </p:nvSpPr>
        <p:spPr>
          <a:xfrm>
            <a:off x="4044950" y="2705725"/>
            <a:ext cx="680655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4400"/>
            </a:pPr>
            <a:r>
              <a:rPr lang="en-US" sz="4400" b="1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Python List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list</a:t>
            </a:r>
            <a:r>
              <a:rPr lang="en-US" dirty="0"/>
              <a:t> is a built-in data structure in Python that allows you to store </a:t>
            </a:r>
            <a:r>
              <a:rPr lang="en-US" b="1" dirty="0"/>
              <a:t>multiple items</a:t>
            </a:r>
            <a:r>
              <a:rPr lang="en-US" dirty="0"/>
              <a:t> in a </a:t>
            </a:r>
            <a:r>
              <a:rPr lang="en-US" b="1" dirty="0"/>
              <a:t>single variable</a:t>
            </a:r>
            <a:r>
              <a:rPr lang="en-US" dirty="0"/>
              <a:t>.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Lists are </a:t>
            </a:r>
            <a:r>
              <a:rPr lang="en-US" b="1" dirty="0"/>
              <a:t>ordered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b="1" dirty="0"/>
              <a:t>mutable</a:t>
            </a:r>
            <a:r>
              <a:rPr lang="en-US" dirty="0"/>
              <a:t> (can be changed)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b="1" dirty="0"/>
              <a:t>allow duplicate values</a:t>
            </a:r>
            <a:r>
              <a:rPr lang="en-US" dirty="0"/>
              <a:t>.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  <a:buClr>
                <a:schemeClr val="bg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Lists are created using square brackets:</a:t>
            </a:r>
            <a:endParaRPr dirty="0"/>
          </a:p>
          <a:p>
            <a:pPr indent="-457200">
              <a:lnSpc>
                <a:spcPct val="100000"/>
              </a:lnSpc>
              <a:spcBef>
                <a:spcPts val="1900"/>
              </a:spcBef>
            </a:pPr>
            <a:r>
              <a:rPr lang="en-US" dirty="0"/>
              <a:t>	</a:t>
            </a:r>
            <a:r>
              <a:rPr lang="en-US" b="0" i="0" dirty="0" err="1"/>
              <a:t>studentlist</a:t>
            </a:r>
            <a:r>
              <a:rPr lang="en-US" b="0" i="0" dirty="0"/>
              <a:t> = [“</a:t>
            </a:r>
            <a:r>
              <a:rPr lang="en-US" b="0" i="0" dirty="0" err="1"/>
              <a:t>rohim</a:t>
            </a:r>
            <a:r>
              <a:rPr lang="en-US" b="0" i="0" dirty="0"/>
              <a:t>”, 100, True, “Korim”, 5.5]</a:t>
            </a:r>
            <a:endParaRPr dirty="0"/>
          </a:p>
        </p:txBody>
      </p:sp>
      <p:sp>
        <p:nvSpPr>
          <p:cNvPr id="391" name="Google Shape;391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Python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>
          <a:extLst>
            <a:ext uri="{FF2B5EF4-FFF2-40B4-BE49-F238E27FC236}">
              <a16:creationId xmlns:a16="http://schemas.microsoft.com/office/drawing/2014/main" id="{495C5C16-1FC5-7011-F254-D40B21CC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">
            <a:extLst>
              <a:ext uri="{FF2B5EF4-FFF2-40B4-BE49-F238E27FC236}">
                <a16:creationId xmlns:a16="http://schemas.microsoft.com/office/drawing/2014/main" id="{969F9450-4DF7-B7E0-44AC-04ADD3C57B6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Clr>
                <a:schemeClr val="bg1"/>
              </a:buClr>
              <a:buNone/>
            </a:pPr>
            <a:r>
              <a:rPr lang="en-US" dirty="0"/>
              <a:t>Lists are used to:</a:t>
            </a:r>
          </a:p>
          <a:p>
            <a:pPr>
              <a:buClr>
                <a:schemeClr val="bg1"/>
              </a:buClr>
            </a:pPr>
            <a:r>
              <a:rPr lang="en-US" dirty="0"/>
              <a:t>Store multiple values in a single variable</a:t>
            </a:r>
          </a:p>
          <a:p>
            <a:pPr>
              <a:buClr>
                <a:schemeClr val="bg1"/>
              </a:buClr>
            </a:pPr>
            <a:r>
              <a:rPr lang="en-US" dirty="0"/>
              <a:t>Access elements using index</a:t>
            </a:r>
          </a:p>
          <a:p>
            <a:pPr>
              <a:buClr>
                <a:schemeClr val="bg1"/>
              </a:buClr>
            </a:pPr>
            <a:r>
              <a:rPr lang="en-US" dirty="0"/>
              <a:t>Modify, add, or remove elements</a:t>
            </a:r>
          </a:p>
          <a:p>
            <a:pPr>
              <a:buClr>
                <a:schemeClr val="bg1"/>
              </a:buClr>
            </a:pPr>
            <a:r>
              <a:rPr lang="en-US" dirty="0"/>
              <a:t>Perform operations on collections of data</a:t>
            </a:r>
          </a:p>
          <a:p>
            <a:pPr indent="-45720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</a:pPr>
            <a:endParaRPr dirty="0"/>
          </a:p>
        </p:txBody>
      </p:sp>
      <p:sp>
        <p:nvSpPr>
          <p:cNvPr id="391" name="Google Shape;391;p4">
            <a:extLst>
              <a:ext uri="{FF2B5EF4-FFF2-40B4-BE49-F238E27FC236}">
                <a16:creationId xmlns:a16="http://schemas.microsoft.com/office/drawing/2014/main" id="{E3BD0155-3F97-9DDC-63AD-B70473573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/>
              <a:t>Why Use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Lists?</a:t>
            </a:r>
            <a:endParaRPr dirty="0">
              <a:solidFill>
                <a:schemeClr val="bg1">
                  <a:lumMod val="50000"/>
                </a:schemeClr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06084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8BFD55-74E5-4EB5-AC1D-E2D1DAEE5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Lists are created using </a:t>
            </a:r>
            <a:r>
              <a:rPr lang="en-US" b="1" dirty="0"/>
              <a:t>square brackets [ ]</a:t>
            </a:r>
            <a:r>
              <a:rPr lang="en-US" dirty="0"/>
              <a:t>.</a:t>
            </a:r>
          </a:p>
        </p:txBody>
      </p:sp>
      <p:sp>
        <p:nvSpPr>
          <p:cNvPr id="397" name="Google Shape;39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en-US" dirty="0"/>
              <a:t> a List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398" name="Google Shape;3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058" y="2660136"/>
            <a:ext cx="6109661" cy="2942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List elements are accessed using </a:t>
            </a:r>
            <a:r>
              <a:rPr lang="en-US" b="1" dirty="0"/>
              <a:t>index numbers</a:t>
            </a:r>
            <a:r>
              <a:rPr lang="en-US" dirty="0"/>
              <a:t> (starting from 0). The index of first item is </a:t>
            </a:r>
            <a:r>
              <a:rPr lang="en-US" b="1" dirty="0"/>
              <a:t>0</a:t>
            </a:r>
            <a:r>
              <a:rPr lang="en-US" dirty="0"/>
              <a:t>, the index of second item is </a:t>
            </a:r>
            <a:r>
              <a:rPr lang="en-US" b="1" dirty="0"/>
              <a:t>1</a:t>
            </a:r>
            <a:r>
              <a:rPr lang="en-US" dirty="0"/>
              <a:t>, and so on.</a:t>
            </a:r>
            <a:endParaRPr b="0" i="0" dirty="0"/>
          </a:p>
        </p:txBody>
      </p:sp>
      <p:sp>
        <p:nvSpPr>
          <p:cNvPr id="403" name="Google Shape;40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 Element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DC1E01-709B-870B-1773-86842CDA3E54}"/>
              </a:ext>
            </a:extLst>
          </p:cNvPr>
          <p:cNvGrpSpPr/>
          <p:nvPr/>
        </p:nvGrpSpPr>
        <p:grpSpPr>
          <a:xfrm>
            <a:off x="655637" y="3429000"/>
            <a:ext cx="10554210" cy="1896979"/>
            <a:chOff x="655637" y="3429000"/>
            <a:chExt cx="10554210" cy="18969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56D7BF5-F908-0C25-CA12-4CF18534D989}"/>
                </a:ext>
              </a:extLst>
            </p:cNvPr>
            <p:cNvSpPr/>
            <p:nvPr/>
          </p:nvSpPr>
          <p:spPr>
            <a:xfrm>
              <a:off x="2117558" y="3429000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4" name="Google Shape;404;p6" descr="Index of Python List Elemen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637" y="3429000"/>
              <a:ext cx="10554210" cy="17781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Access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List Element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11" name="Google Shape;41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6224" y="1424342"/>
            <a:ext cx="5412348" cy="2548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4F42744-BEFC-0731-26A4-3FD478C379D5}"/>
              </a:ext>
            </a:extLst>
          </p:cNvPr>
          <p:cNvGrpSpPr/>
          <p:nvPr/>
        </p:nvGrpSpPr>
        <p:grpSpPr>
          <a:xfrm>
            <a:off x="2324005" y="4308308"/>
            <a:ext cx="7668126" cy="1896979"/>
            <a:chOff x="2324005" y="4308308"/>
            <a:chExt cx="7668126" cy="189697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147670A-BDEE-2399-A7C0-07BA5485820E}"/>
                </a:ext>
              </a:extLst>
            </p:cNvPr>
            <p:cNvSpPr/>
            <p:nvPr/>
          </p:nvSpPr>
          <p:spPr>
            <a:xfrm>
              <a:off x="2324005" y="4308308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2" name="Google Shape;412;p7" descr="Access List Elements Using Index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24459" y="4843108"/>
              <a:ext cx="70104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Python, a list can also have negative indices. The index of the last element is </a:t>
            </a:r>
            <a:r>
              <a:rPr lang="en-US" b="1"/>
              <a:t>-1</a:t>
            </a:r>
            <a:r>
              <a:rPr lang="en-US"/>
              <a:t>, the second last element is </a:t>
            </a:r>
            <a:r>
              <a:rPr lang="en-US" b="1"/>
              <a:t>-2</a:t>
            </a:r>
            <a:r>
              <a:rPr lang="en-US"/>
              <a:t> and so on.</a:t>
            </a:r>
            <a:endParaRPr b="0" i="0"/>
          </a:p>
        </p:txBody>
      </p:sp>
      <p:sp>
        <p:nvSpPr>
          <p:cNvPr id="417" name="Google Shape;41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Negative</a:t>
            </a:r>
            <a:r>
              <a:rPr lang="en-US" dirty="0">
                <a:solidFill>
                  <a:srgbClr val="A6CFC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dirty="0"/>
              <a:t>Indexing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1F214D-C423-44A1-3CBB-31601E12D564}"/>
              </a:ext>
            </a:extLst>
          </p:cNvPr>
          <p:cNvGrpSpPr/>
          <p:nvPr/>
        </p:nvGrpSpPr>
        <p:grpSpPr>
          <a:xfrm>
            <a:off x="2117558" y="3429000"/>
            <a:ext cx="7668126" cy="1896979"/>
            <a:chOff x="2117558" y="3429000"/>
            <a:chExt cx="7668126" cy="18969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34921DC-49ED-E810-1D97-20BAEF5D2D24}"/>
                </a:ext>
              </a:extLst>
            </p:cNvPr>
            <p:cNvSpPr/>
            <p:nvPr/>
          </p:nvSpPr>
          <p:spPr>
            <a:xfrm>
              <a:off x="2117558" y="3429000"/>
              <a:ext cx="7668126" cy="1896979"/>
            </a:xfrm>
            <a:prstGeom prst="roundRect">
              <a:avLst>
                <a:gd name="adj" fmla="val 107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9" name="Google Shape;419;p8" descr="Python Negative Indexi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68393" y="3559008"/>
              <a:ext cx="7010400" cy="1562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D3C9F650-4799-D2A5-7515-D998834BB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>
            <a:extLst>
              <a:ext uri="{FF2B5EF4-FFF2-40B4-BE49-F238E27FC236}">
                <a16:creationId xmlns:a16="http://schemas.microsoft.com/office/drawing/2014/main" id="{E97E9ACC-11D8-11FB-E697-0191D349FD7E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Lists are mutable, so values can be changed.</a:t>
            </a:r>
            <a:endParaRPr dirty="0"/>
          </a:p>
        </p:txBody>
      </p:sp>
      <p:sp>
        <p:nvSpPr>
          <p:cNvPr id="424" name="Google Shape;424;p9">
            <a:extLst>
              <a:ext uri="{FF2B5EF4-FFF2-40B4-BE49-F238E27FC236}">
                <a16:creationId xmlns:a16="http://schemas.microsoft.com/office/drawing/2014/main" id="{92D5B7F4-3BC2-760A-2ABF-2BADBBABC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Changing</a:t>
            </a:r>
            <a:r>
              <a:rPr lang="en-US" dirty="0"/>
              <a:t> List Items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>
            <a:extLst>
              <a:ext uri="{FF2B5EF4-FFF2-40B4-BE49-F238E27FC236}">
                <a16:creationId xmlns:a16="http://schemas.microsoft.com/office/drawing/2014/main" id="{9F68E3DD-34AD-43DF-8062-07C27CBC94A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961731" y="2294021"/>
            <a:ext cx="7053403" cy="31009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9530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BB72AB57-4A9B-19FA-4364-D1A565E3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>
            <a:extLst>
              <a:ext uri="{FF2B5EF4-FFF2-40B4-BE49-F238E27FC236}">
                <a16:creationId xmlns:a16="http://schemas.microsoft.com/office/drawing/2014/main" id="{F1D5E732-CFA5-35EE-EA70-51B8056D474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None/>
            </a:pPr>
            <a:r>
              <a:rPr lang="en-US" dirty="0"/>
              <a:t>Use the </a:t>
            </a:r>
            <a:r>
              <a:rPr lang="en-US" b="1" dirty="0" err="1"/>
              <a:t>len</a:t>
            </a:r>
            <a:r>
              <a:rPr lang="en-US" b="1" dirty="0"/>
              <a:t>() </a:t>
            </a:r>
            <a:r>
              <a:rPr lang="en-US" dirty="0"/>
              <a:t>function to find the number of elements</a:t>
            </a:r>
            <a:endParaRPr dirty="0"/>
          </a:p>
        </p:txBody>
      </p:sp>
      <p:sp>
        <p:nvSpPr>
          <p:cNvPr id="424" name="Google Shape;424;p9">
            <a:extLst>
              <a:ext uri="{FF2B5EF4-FFF2-40B4-BE49-F238E27FC236}">
                <a16:creationId xmlns:a16="http://schemas.microsoft.com/office/drawing/2014/main" id="{97ED1097-6ED0-47CB-D14B-E03B14253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A6CFC0"/>
              </a:buClr>
              <a:buSzPts val="32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 Length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>
            <a:extLst>
              <a:ext uri="{FF2B5EF4-FFF2-40B4-BE49-F238E27FC236}">
                <a16:creationId xmlns:a16="http://schemas.microsoft.com/office/drawing/2014/main" id="{CD7C1F07-F31C-297A-FA8E-0767201E03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961731" y="2470758"/>
            <a:ext cx="7053403" cy="2747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745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739CD-C7FC-AFB2-E9F6-B7365AE55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Adding Elements to a List</a:t>
            </a:r>
          </a:p>
        </p:txBody>
      </p:sp>
    </p:spTree>
    <p:extLst>
      <p:ext uri="{BB962C8B-B14F-4D97-AF65-F5344CB8AC3E}">
        <p14:creationId xmlns:p14="http://schemas.microsoft.com/office/powerpoint/2010/main" val="2168480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Adds a single item to the end of the list</a:t>
            </a:r>
            <a:endParaRPr/>
          </a:p>
        </p:txBody>
      </p:sp>
      <p:sp>
        <p:nvSpPr>
          <p:cNvPr id="424" name="Google Shape;424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append(item)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26" name="Google Shape;42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203" y="2651748"/>
            <a:ext cx="88201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Inserts an item at the specified index</a:t>
            </a:r>
            <a:endParaRPr/>
          </a:p>
        </p:txBody>
      </p:sp>
      <p:sp>
        <p:nvSpPr>
          <p:cNvPr id="431" name="Google Shape;431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insert(index, item)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33" name="Google Shape;43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203" y="2651748"/>
            <a:ext cx="882015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Add the element of a list to the end of the current list</a:t>
            </a:r>
            <a:endParaRPr/>
          </a:p>
        </p:txBody>
      </p:sp>
      <p:sp>
        <p:nvSpPr>
          <p:cNvPr id="438" name="Google Shape;438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extend(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0" name="Google Shape;44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261" y="2651748"/>
            <a:ext cx="7792034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C71E-D6F4-B083-3F3D-B5D7C6EC9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Removing Elements from a List</a:t>
            </a:r>
          </a:p>
        </p:txBody>
      </p:sp>
    </p:spTree>
    <p:extLst>
      <p:ext uri="{BB962C8B-B14F-4D97-AF65-F5344CB8AC3E}">
        <p14:creationId xmlns:p14="http://schemas.microsoft.com/office/powerpoint/2010/main" val="1146280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Removes the first occurrence of a value</a:t>
            </a:r>
            <a:endParaRPr/>
          </a:p>
        </p:txBody>
      </p:sp>
      <p:sp>
        <p:nvSpPr>
          <p:cNvPr id="445" name="Google Shape;44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remove(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item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47" name="Google Shape;4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9261" y="2811628"/>
            <a:ext cx="7792034" cy="24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3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0" i="0"/>
              <a:t>Removes the element at the specified position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Note: If we not provide index it’s remove the last element</a:t>
            </a:r>
            <a:endParaRPr b="0" i="0"/>
          </a:p>
        </p:txBody>
      </p:sp>
      <p:sp>
        <p:nvSpPr>
          <p:cNvPr id="452" name="Google Shape;452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pop(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[index]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54" name="Google Shape;4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2811628"/>
            <a:ext cx="6883759" cy="24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Removes all items from the list.</a:t>
            </a:r>
            <a:endParaRPr/>
          </a:p>
        </p:txBody>
      </p:sp>
      <p:sp>
        <p:nvSpPr>
          <p:cNvPr id="459" name="Google Shape;45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clear()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2952871"/>
            <a:ext cx="6883759" cy="214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id="{6167FC20-2315-B7AA-AC25-6EDD2327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id="{ACD01FAC-1F86-85AE-574D-CDCD9DE73E22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Remove specific index or a variable.</a:t>
            </a: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id="{D709C6ED-5A9A-B832-3C73-428C53E0B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del </a:t>
            </a:r>
            <a:r>
              <a:rPr lang="en-US" dirty="0"/>
              <a:t>Keyword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id="{3ED5A3CC-8F78-1D61-CF19-F9F546DEC2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2210235" y="2487650"/>
            <a:ext cx="5747809" cy="24854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9316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id="{E581B6E7-DEAA-157C-915C-FC78DFFB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id="{522AE047-4AB3-858C-D18A-D94628C439B0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id="{A3666C73-4B06-03C6-2A53-1DC9A5F6B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Using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for</a:t>
            </a: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 Loop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id="{F50EE78F-F2F1-3002-265D-990A1F2EE3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761056" y="2437865"/>
            <a:ext cx="6590618" cy="2559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614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0" i="0"/>
              <a:t>Returns the number of elements with the specified value.</a:t>
            </a:r>
            <a:endParaRPr/>
          </a:p>
        </p:txBody>
      </p:sp>
      <p:sp>
        <p:nvSpPr>
          <p:cNvPr id="466" name="Google Shape;46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 Black"/>
                <a:ea typeface="Arial Black"/>
                <a:cs typeface="Arial Black"/>
                <a:sym typeface="Arial Black"/>
              </a:rPr>
              <a:t>count() </a:t>
            </a:r>
            <a:r>
              <a:rPr lang="en-US" dirty="0"/>
              <a:t>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8" name="Google Shape;46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398" y="3094114"/>
            <a:ext cx="6883759" cy="185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>
          <a:extLst>
            <a:ext uri="{FF2B5EF4-FFF2-40B4-BE49-F238E27FC236}">
              <a16:creationId xmlns:a16="http://schemas.microsoft.com/office/drawing/2014/main" id="{64D7DF87-B851-DC9C-8D53-FE2F930BB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>
            <a:extLst>
              <a:ext uri="{FF2B5EF4-FFF2-40B4-BE49-F238E27FC236}">
                <a16:creationId xmlns:a16="http://schemas.microsoft.com/office/drawing/2014/main" id="{A8A934F2-E41B-8E6F-07CA-A70356030E21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Duplicate or copy a list using this method.</a:t>
            </a:r>
            <a:endParaRPr dirty="0"/>
          </a:p>
        </p:txBody>
      </p:sp>
      <p:sp>
        <p:nvSpPr>
          <p:cNvPr id="459" name="Google Shape;459;p14">
            <a:extLst>
              <a:ext uri="{FF2B5EF4-FFF2-40B4-BE49-F238E27FC236}">
                <a16:creationId xmlns:a16="http://schemas.microsoft.com/office/drawing/2014/main" id="{C3D003BA-F4F3-95EF-F5A8-F021EC849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3200"/>
              <a:buFont typeface="Arial Black"/>
              <a:buNone/>
            </a:pPr>
            <a:r>
              <a:rPr lang="en-US" dirty="0">
                <a:latin typeface="Arial Black"/>
                <a:ea typeface="Arial Black"/>
                <a:cs typeface="Arial Black"/>
                <a:sym typeface="Arial Black"/>
              </a:rPr>
              <a:t>copy() method</a:t>
            </a:r>
            <a:endParaRPr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461" name="Google Shape;461;p14">
            <a:extLst>
              <a:ext uri="{FF2B5EF4-FFF2-40B4-BE49-F238E27FC236}">
                <a16:creationId xmlns:a16="http://schemas.microsoft.com/office/drawing/2014/main" id="{8C3EEEB6-1FCE-3828-6971-8712123937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1608135" y="2261402"/>
            <a:ext cx="5214576" cy="3128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006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6600"/>
              <a:buFont typeface="Play"/>
              <a:buNone/>
            </a:pPr>
            <a:r>
              <a:rPr lang="en-US" sz="6600"/>
              <a:t>Thanks All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429</Words>
  <Application>Microsoft Office PowerPoint</Application>
  <PresentationFormat>Widescreen</PresentationFormat>
  <Paragraphs>67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Play</vt:lpstr>
      <vt:lpstr>Arial Black</vt:lpstr>
      <vt:lpstr>Office Theme</vt:lpstr>
      <vt:lpstr>Welcome to the Web Application Development with Python L-4 Training Program</vt:lpstr>
      <vt:lpstr>MD. SHAKIL </vt:lpstr>
      <vt:lpstr>PowerPoint Presentation</vt:lpstr>
      <vt:lpstr>Python List</vt:lpstr>
      <vt:lpstr>Why Use Lists?</vt:lpstr>
      <vt:lpstr>Creating a List</vt:lpstr>
      <vt:lpstr>Access List Element</vt:lpstr>
      <vt:lpstr>Access List Element</vt:lpstr>
      <vt:lpstr>Negative Indexing</vt:lpstr>
      <vt:lpstr>Changing List Items</vt:lpstr>
      <vt:lpstr>List Length</vt:lpstr>
      <vt:lpstr>Adding Elements to a List</vt:lpstr>
      <vt:lpstr>append(item) Method</vt:lpstr>
      <vt:lpstr>insert(index, item) Method</vt:lpstr>
      <vt:lpstr>extend(list) Method</vt:lpstr>
      <vt:lpstr>Removing Elements from a List</vt:lpstr>
      <vt:lpstr>remove(item) Method</vt:lpstr>
      <vt:lpstr>pop([index]) Method</vt:lpstr>
      <vt:lpstr>clear() Method</vt:lpstr>
      <vt:lpstr>del Keyword</vt:lpstr>
      <vt:lpstr>Using for Loop</vt:lpstr>
      <vt:lpstr>count() Method</vt:lpstr>
      <vt:lpstr>copy() method</vt:lpstr>
      <vt:lpstr>Thanks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SHAKIL</dc:creator>
  <cp:lastModifiedBy>MD SHAKIL</cp:lastModifiedBy>
  <cp:revision>15</cp:revision>
  <dcterms:created xsi:type="dcterms:W3CDTF">2024-08-22T18:44:27Z</dcterms:created>
  <dcterms:modified xsi:type="dcterms:W3CDTF">2026-03-09T23:41:04Z</dcterms:modified>
</cp:coreProperties>
</file>