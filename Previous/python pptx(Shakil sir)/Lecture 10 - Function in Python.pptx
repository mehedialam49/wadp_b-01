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68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369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Arial Black" panose="020B0A04020102020204" pitchFamily="34" charset="0"/>
      <p:regular r:id="rId23"/>
      <p:bold r:id="rId24"/>
    </p:embeddedFont>
    <p:embeddedFont>
      <p:font typeface="Play" panose="020B0604020202020204" charset="0"/>
      <p:regular r:id="rId25"/>
      <p:bold r:id="rId26"/>
    </p:embeddedFont>
    <p:embeddedFont>
      <p:font typeface="Verdana" panose="020B060403050404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ViHyPapw6XS/n2gqr4pcO3G0u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>
          <a:extLst>
            <a:ext uri="{FF2B5EF4-FFF2-40B4-BE49-F238E27FC236}">
              <a16:creationId xmlns:a16="http://schemas.microsoft.com/office/drawing/2014/main" id="{F29C376F-9335-A8E5-A7DE-D94A744C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1:notes">
            <a:extLst>
              <a:ext uri="{FF2B5EF4-FFF2-40B4-BE49-F238E27FC236}">
                <a16:creationId xmlns:a16="http://schemas.microsoft.com/office/drawing/2014/main" id="{1E6AD9A6-5920-A557-2CFC-3ACD651F3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:notes">
            <a:extLst>
              <a:ext uri="{FF2B5EF4-FFF2-40B4-BE49-F238E27FC236}">
                <a16:creationId xmlns:a16="http://schemas.microsoft.com/office/drawing/2014/main" id="{4C111B84-7BD3-7D22-FE43-AD8CEBCB3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1720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-1" y="2537778"/>
            <a:ext cx="12191999" cy="1969830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831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Autofit/>
          </a:bodyPr>
          <a:lstStyle>
            <a:lvl1pPr algn="l"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3385810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979175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75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72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1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21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9" name="Google Shape;19;p21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5" name="Google Shape;25;p21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21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21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21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29" name="Google Shape;29;p21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1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21"/>
          <p:cNvSpPr txBox="1"/>
          <p:nvPr/>
        </p:nvSpPr>
        <p:spPr>
          <a:xfrm>
            <a:off x="137298" y="6203484"/>
            <a:ext cx="26404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 (NSDA)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3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3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/>
          <p:nvPr/>
        </p:nvSpPr>
        <p:spPr>
          <a:xfrm>
            <a:off x="137298" y="6203484"/>
            <a:ext cx="2411411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 (NSDA)</a:t>
            </a:r>
            <a:endParaRPr/>
          </a:p>
        </p:txBody>
      </p:sp>
      <p:grpSp>
        <p:nvGrpSpPr>
          <p:cNvPr id="51" name="Google Shape;51;p23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52" name="Google Shape;52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4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5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25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91" name="Google Shape;91;p25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5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95" name="Google Shape;95;p25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96" name="Google Shape;96;p25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25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6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00" name="Google Shape;100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6" name="Google Shape;106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7" name="Google Shape;107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8" name="Google Shape;108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9" name="Google Shape;109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0" name="Google Shape;110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1" name="Google Shape;111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2" name="Google Shape;112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3" name="Google Shape;113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4" name="Google Shape;114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5" name="Google Shape;115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6" name="Google Shape;116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7" name="Google Shape;117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26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6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120" name="Google Shape;120;p26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6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3" name="Google Shape;123;p26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26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25" name="Google Shape;125;p26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" name="Google Shape;126;p26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7" name="Google Shape;127;p26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8" name="Google Shape;128;p26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0" name="Google Shape;130;p26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131" name="Google Shape;131;p26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6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135" name="Google Shape;135;p26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" name="Google Shape;136;p26"/>
          <p:cNvSpPr txBox="1"/>
          <p:nvPr/>
        </p:nvSpPr>
        <p:spPr>
          <a:xfrm>
            <a:off x="137297" y="6203484"/>
            <a:ext cx="27439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 (NSDA)</a:t>
            </a:r>
            <a:endParaRPr/>
          </a:p>
        </p:txBody>
      </p:sp>
      <p:pic>
        <p:nvPicPr>
          <p:cNvPr id="137" name="Google Shape;137;p26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2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3" name="Google Shape;143;p27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112144" y="6143102"/>
            <a:ext cx="247578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 Authority (NSDA)</a:t>
            </a:r>
            <a:endParaRPr/>
          </a:p>
        </p:txBody>
      </p:sp>
      <p:grpSp>
        <p:nvGrpSpPr>
          <p:cNvPr id="147" name="Google Shape;147;p27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148" name="Google Shape;148;p27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7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8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5" name="Google Shape;155;p28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7" name="Google Shape;157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8" name="Google Shape;158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9" name="Google Shape;159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0" name="Google Shape;160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1" name="Google Shape;161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2" name="Google Shape;162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3" name="Google Shape;163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4" name="Google Shape;164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5" name="Google Shape;165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6" name="Google Shape;166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7" name="Google Shape;167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9" name="Google Shape;169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0" name="Google Shape;170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2" name="Google Shape;172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3" name="Google Shape;173;p28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180" name="Google Shape;180;p28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181" name="Google Shape;181;p28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8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9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8" name="Google Shape;188;p29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1" name="Google Shape;191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2" name="Google Shape;192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3" name="Google Shape;193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5" name="Google Shape;195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6" name="Google Shape;196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7" name="Google Shape;197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8" name="Google Shape;198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9" name="Google Shape;199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0" name="Google Shape;200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2" name="Google Shape;202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3" name="Google Shape;203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5" name="Google Shape;205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6" name="Google Shape;206;p29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9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9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15" name="Google Shape;215;p29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16" name="Google Shape;216;p29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9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0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0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3" name="Google Shape;223;p30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6" name="Google Shape;226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7" name="Google Shape;227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" name="Google Shape;228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9" name="Google Shape;229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0" name="Google Shape;230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1" name="Google Shape;231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2" name="Google Shape;232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3" name="Google Shape;233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4" name="Google Shape;234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5" name="Google Shape;235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7" name="Google Shape;237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" name="Google Shape;238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0" name="Google Shape;240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1" name="Google Shape;241;p30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0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0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48" name="Google Shape;248;p30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249" name="Google Shape;249;p30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30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1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1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1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31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1" name="Google Shape;261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3" name="Google Shape;263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6" name="Google Shape;266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7" name="Google Shape;267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8" name="Google Shape;268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9" name="Google Shape;269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0" name="Google Shape;270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1" name="Google Shape;271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2" name="Google Shape;272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4" name="Google Shape;274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6" name="Google Shape;276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7" name="Google Shape;277;p31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1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1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82" name="Google Shape;282;p31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83" name="Google Shape;283;p31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1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2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2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0" name="Google Shape;290;p32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294" name="Google Shape;294;p32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2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4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309" name="Google Shape;309;p34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11" name="Google Shape;311;p34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7" name="Google Shape;347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49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>
            <a:spLocks noGrp="1"/>
          </p:cNvSpPr>
          <p:nvPr>
            <p:ph type="ctrTitle"/>
          </p:nvPr>
        </p:nvSpPr>
        <p:spPr>
          <a:xfrm>
            <a:off x="-1" y="2149642"/>
            <a:ext cx="12191999" cy="23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800"/>
              <a:buFont typeface="Play"/>
              <a:buNone/>
            </a:pPr>
            <a:r>
              <a:rPr lang="en-US" sz="4400" dirty="0"/>
              <a:t>Welcome to the</a:t>
            </a:r>
            <a:br>
              <a:rPr lang="en-US" sz="4400" dirty="0"/>
            </a:br>
            <a:r>
              <a:rPr lang="en-US" sz="4000" dirty="0">
                <a:solidFill>
                  <a:schemeClr val="lt1"/>
                </a:solidFill>
              </a:rPr>
              <a:t>Web Application Development with Python L-4</a:t>
            </a:r>
            <a:br>
              <a:rPr lang="en-US" sz="4400" dirty="0"/>
            </a:br>
            <a:r>
              <a:rPr lang="en-US" sz="4000" dirty="0"/>
              <a:t>Training Program</a:t>
            </a:r>
            <a:endParaRPr sz="44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D1353-EC29-D173-4E49-A27864B5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3306" y="1294718"/>
            <a:ext cx="7958880" cy="87481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MD. SHAKIL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E8F5A-96F8-203D-40DE-60E100837EF4}"/>
              </a:ext>
            </a:extLst>
          </p:cNvPr>
          <p:cNvSpPr/>
          <p:nvPr/>
        </p:nvSpPr>
        <p:spPr>
          <a:xfrm>
            <a:off x="3633051" y="2076227"/>
            <a:ext cx="2220686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NSDA Certified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Trainer &amp; Assessor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B8425-45AE-E74E-DE79-5E3F83DDB9C1}"/>
              </a:ext>
            </a:extLst>
          </p:cNvPr>
          <p:cNvSpPr/>
          <p:nvPr/>
        </p:nvSpPr>
        <p:spPr>
          <a:xfrm>
            <a:off x="5993240" y="2076227"/>
            <a:ext cx="5586050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Vendor Certified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IT Specialist in Python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B254-DAFC-93D4-6D46-77BAA5E9CE62}"/>
              </a:ext>
            </a:extLst>
          </p:cNvPr>
          <p:cNvSpPr/>
          <p:nvPr/>
        </p:nvSpPr>
        <p:spPr>
          <a:xfrm>
            <a:off x="3651711" y="3143046"/>
            <a:ext cx="3411561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Sr. Backend Developer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Ethical Den</a:t>
            </a:r>
            <a:endParaRPr lang="en-US" sz="1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5BCE71-0478-616A-0F45-CA8D237F4C1C}"/>
              </a:ext>
            </a:extLst>
          </p:cNvPr>
          <p:cNvSpPr/>
          <p:nvPr/>
        </p:nvSpPr>
        <p:spPr>
          <a:xfrm>
            <a:off x="7206806" y="3124383"/>
            <a:ext cx="43724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Asst. Trainer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Daffodil International Professional Training Institute</a:t>
            </a:r>
            <a:endParaRPr lang="en-US" sz="1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FDC7C6-012E-ACCD-95BA-178BAFF3D9E7}"/>
              </a:ext>
            </a:extLst>
          </p:cNvPr>
          <p:cNvSpPr/>
          <p:nvPr/>
        </p:nvSpPr>
        <p:spPr>
          <a:xfrm>
            <a:off x="3651711" y="4209865"/>
            <a:ext cx="4055375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Lead Trainer</a:t>
            </a:r>
          </a:p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eShikhon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IT Training Institute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5C137C-92D1-5D73-B20F-BD4564ED4E46}"/>
              </a:ext>
            </a:extLst>
          </p:cNvPr>
          <p:cNvSpPr/>
          <p:nvPr/>
        </p:nvSpPr>
        <p:spPr>
          <a:xfrm>
            <a:off x="7865706" y="4191202"/>
            <a:ext cx="37135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Lead Trainer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Wizard Software &amp; Technology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68C69-0745-4228-5ACD-E42A71B4632E}"/>
              </a:ext>
            </a:extLst>
          </p:cNvPr>
          <p:cNvSpPr/>
          <p:nvPr/>
        </p:nvSpPr>
        <p:spPr>
          <a:xfrm>
            <a:off x="3651712" y="5295348"/>
            <a:ext cx="3719472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+88 01793-299882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594A1-DE42-BB77-00E0-C1DF5B226184}"/>
              </a:ext>
            </a:extLst>
          </p:cNvPr>
          <p:cNvSpPr/>
          <p:nvPr/>
        </p:nvSpPr>
        <p:spPr>
          <a:xfrm>
            <a:off x="7523915" y="5295347"/>
            <a:ext cx="4055375" cy="500763"/>
          </a:xfrm>
          <a:prstGeom prst="roundRect">
            <a:avLst>
              <a:gd name="adj" fmla="val 16461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shakil.eub.cse@gmail.com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CB43AE-627E-626F-853B-90FAB9074EE2}"/>
              </a:ext>
            </a:extLst>
          </p:cNvPr>
          <p:cNvSpPr/>
          <p:nvPr/>
        </p:nvSpPr>
        <p:spPr>
          <a:xfrm>
            <a:off x="3651712" y="5963202"/>
            <a:ext cx="4857806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https://www.linkedin.com/in/mrshakil015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FD75C-7A85-517E-1896-241A31635B79}"/>
              </a:ext>
            </a:extLst>
          </p:cNvPr>
          <p:cNvSpPr/>
          <p:nvPr/>
        </p:nvSpPr>
        <p:spPr>
          <a:xfrm>
            <a:off x="8660409" y="5963202"/>
            <a:ext cx="2918881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https://mrshakil.com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4147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D65C5-C1EE-88FA-7A1B-1FE3F8C3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Arial"/>
                <a:cs typeface="Arial"/>
                <a:sym typeface="Arial"/>
              </a:rPr>
              <a:t>Function in Python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AEC77C-F742-388B-E28D-8EAFB7BB8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4" name="Google Shape;384;p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Lecture</a:t>
            </a:r>
            <a:endParaRPr/>
          </a:p>
        </p:txBody>
      </p:sp>
      <p:sp>
        <p:nvSpPr>
          <p:cNvPr id="385" name="Google Shape;385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function is a reusable block of code that performs a specific task. Functions help in reducing code duplication and improving code organization.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A function is a block of code which only runs when it is called.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You can pass data, known as parameters, into a function.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A function can return data as a result</a:t>
            </a:r>
            <a:endParaRPr dirty="0"/>
          </a:p>
        </p:txBody>
      </p:sp>
      <p:sp>
        <p:nvSpPr>
          <p:cNvPr id="391" name="Google Shape;39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What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Avoid code repetition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Improve readability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Make debugging easier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Reuse logic multiple times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Organize large programs</a:t>
            </a:r>
            <a:endParaRPr dirty="0"/>
          </a:p>
        </p:txBody>
      </p:sp>
      <p:sp>
        <p:nvSpPr>
          <p:cNvPr id="397" name="Google Shape;397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Why used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Functions?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b="1" dirty="0"/>
              <a:t>Built-in functions </a:t>
            </a:r>
            <a:r>
              <a:rPr lang="en-US" dirty="0"/>
              <a:t>(e.g., print(), </a:t>
            </a:r>
            <a:r>
              <a:rPr lang="en-US" dirty="0" err="1"/>
              <a:t>len</a:t>
            </a:r>
            <a:r>
              <a:rPr lang="en-US" dirty="0"/>
              <a:t>(), type())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b="1" dirty="0"/>
              <a:t>User-defined functions </a:t>
            </a:r>
            <a:r>
              <a:rPr lang="en-US" dirty="0"/>
              <a:t>(functions you define yourself)</a:t>
            </a:r>
            <a:endParaRPr dirty="0"/>
          </a:p>
        </p:txBody>
      </p:sp>
      <p:sp>
        <p:nvSpPr>
          <p:cNvPr id="403" name="Google Shape;40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Types of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 Python a function is defined using the 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def</a:t>
            </a:r>
            <a:r>
              <a:rPr lang="en-US" dirty="0"/>
              <a:t> keyword:</a:t>
            </a:r>
            <a:endParaRPr dirty="0"/>
          </a:p>
        </p:txBody>
      </p:sp>
      <p:sp>
        <p:nvSpPr>
          <p:cNvPr id="409" name="Google Shape;409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/>
              <a:t>Create a </a:t>
            </a:r>
            <a:r>
              <a:rPr lang="en-US">
                <a:solidFill>
                  <a:srgbClr val="96C6B5"/>
                </a:solidFill>
              </a:rPr>
              <a:t>Function</a:t>
            </a:r>
            <a:endParaRPr>
              <a:solidFill>
                <a:srgbClr val="96C6B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C3B00A-45A1-CFAB-ED69-1F2C40271BC9}"/>
              </a:ext>
            </a:extLst>
          </p:cNvPr>
          <p:cNvGrpSpPr/>
          <p:nvPr/>
        </p:nvGrpSpPr>
        <p:grpSpPr>
          <a:xfrm>
            <a:off x="946484" y="2470547"/>
            <a:ext cx="9879862" cy="3321844"/>
            <a:chOff x="946484" y="2470547"/>
            <a:chExt cx="9879862" cy="332184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5512AB0-7B2F-1DD7-0909-D16B5144135B}"/>
                </a:ext>
              </a:extLst>
            </p:cNvPr>
            <p:cNvSpPr/>
            <p:nvPr/>
          </p:nvSpPr>
          <p:spPr>
            <a:xfrm>
              <a:off x="946484" y="2470547"/>
              <a:ext cx="9663546" cy="3321844"/>
            </a:xfrm>
            <a:prstGeom prst="roundRect">
              <a:avLst>
                <a:gd name="adj" fmla="val 13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1" name="Google Shape;411;p7" descr="Create a Python Function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62800" y="2470547"/>
              <a:ext cx="9663546" cy="33218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call a function, use the function name followed by parenthesis:</a:t>
            </a:r>
            <a:endParaRPr/>
          </a:p>
        </p:txBody>
      </p:sp>
      <p:sp>
        <p:nvSpPr>
          <p:cNvPr id="416" name="Google Shape;41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Calling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49CFC0-CFC8-979F-5D18-4A399DD49BA5}"/>
              </a:ext>
            </a:extLst>
          </p:cNvPr>
          <p:cNvGrpSpPr/>
          <p:nvPr/>
        </p:nvGrpSpPr>
        <p:grpSpPr>
          <a:xfrm>
            <a:off x="946484" y="2470547"/>
            <a:ext cx="9663546" cy="3321844"/>
            <a:chOff x="946484" y="2470547"/>
            <a:chExt cx="9663546" cy="332184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B6CAD85-17D0-27A3-239C-4BA05968930D}"/>
                </a:ext>
              </a:extLst>
            </p:cNvPr>
            <p:cNvSpPr/>
            <p:nvPr/>
          </p:nvSpPr>
          <p:spPr>
            <a:xfrm>
              <a:off x="946484" y="2470547"/>
              <a:ext cx="9663546" cy="3321844"/>
            </a:xfrm>
            <a:prstGeom prst="roundRect">
              <a:avLst>
                <a:gd name="adj" fmla="val 13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8" name="Google Shape;418;p8" descr="Python Function Work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75292" y="2583575"/>
              <a:ext cx="9005929" cy="30957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parameter is the variable listed inside the parentheses in the function definition.</a:t>
            </a:r>
            <a:endParaRPr/>
          </a:p>
        </p:txBody>
      </p:sp>
      <p:sp>
        <p:nvSpPr>
          <p:cNvPr id="435" name="Google Shape;435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Python Function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37" name="Google Shape;437;p10" descr="A computer screen shot of a black screen with colorful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3077" y="2621376"/>
            <a:ext cx="3655072" cy="2833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" name="Google Shape;438;p10"/>
          <p:cNvGrpSpPr/>
          <p:nvPr/>
        </p:nvGrpSpPr>
        <p:grpSpPr>
          <a:xfrm>
            <a:off x="4758612" y="3620277"/>
            <a:ext cx="4273093" cy="369291"/>
            <a:chOff x="4758612" y="3620277"/>
            <a:chExt cx="4273093" cy="369291"/>
          </a:xfrm>
        </p:grpSpPr>
        <p:sp>
          <p:nvSpPr>
            <p:cNvPr id="439" name="Google Shape;439;p10"/>
            <p:cNvSpPr/>
            <p:nvPr/>
          </p:nvSpPr>
          <p:spPr>
            <a:xfrm>
              <a:off x="4758612" y="3732246"/>
              <a:ext cx="494524" cy="205273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10"/>
            <p:cNvCxnSpPr>
              <a:stCxn id="439" idx="3"/>
            </p:cNvCxnSpPr>
            <p:nvPr/>
          </p:nvCxnSpPr>
          <p:spPr>
            <a:xfrm>
              <a:off x="5253136" y="3834883"/>
              <a:ext cx="22113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41" name="Google Shape;441;p10"/>
            <p:cNvSpPr txBox="1"/>
            <p:nvPr/>
          </p:nvSpPr>
          <p:spPr>
            <a:xfrm>
              <a:off x="7500729" y="3620277"/>
              <a:ext cx="1530976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Parameter</a:t>
              </a:r>
              <a:endParaRPr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B311E6-E65C-55B2-D67F-6459809188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Default parameter values are used if no argument is provided.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798552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</a:pPr>
            <a:r>
              <a:rPr lang="en-US" dirty="0"/>
              <a:t>Function with Default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7" name="Google Shape;447;p11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4080" y="2425749"/>
            <a:ext cx="7582094" cy="413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>
          <a:extLst>
            <a:ext uri="{FF2B5EF4-FFF2-40B4-BE49-F238E27FC236}">
              <a16:creationId xmlns:a16="http://schemas.microsoft.com/office/drawing/2014/main" id="{4480FE39-5474-ACFB-DA73-586E3C8E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9510A-9FBA-4847-4BF7-25A9DA5F1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6" name="Google Shape;446;p11">
            <a:extLst>
              <a:ext uri="{FF2B5EF4-FFF2-40B4-BE49-F238E27FC236}">
                <a16:creationId xmlns:a16="http://schemas.microsoft.com/office/drawing/2014/main" id="{90032CE2-AD2F-BEC2-92C2-233FFE40B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798552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</a:pPr>
            <a:r>
              <a:rPr lang="en-US" sz="3000" dirty="0"/>
              <a:t>Function with </a:t>
            </a:r>
            <a:r>
              <a:rPr lang="en-US" sz="3000" dirty="0">
                <a:solidFill>
                  <a:schemeClr val="bg1">
                    <a:lumMod val="50000"/>
                  </a:schemeClr>
                </a:solidFill>
              </a:rPr>
              <a:t>Multiple</a:t>
            </a:r>
            <a:r>
              <a:rPr lang="en-US" sz="3000" dirty="0"/>
              <a:t> </a:t>
            </a:r>
            <a:r>
              <a:rPr lang="en-US" sz="3000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sz="3000"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7" name="Google Shape;447;p11">
            <a:extLst>
              <a:ext uri="{FF2B5EF4-FFF2-40B4-BE49-F238E27FC236}">
                <a16:creationId xmlns:a16="http://schemas.microsoft.com/office/drawing/2014/main" id="{72ECA4D5-C63B-8BC9-244D-3C133802E1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171195" y="2425749"/>
            <a:ext cx="6007863" cy="4132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1937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In computer programming, an argument is a value that is accepted by a function.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Arguments are inputs given to the function.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Arguments are specified after the function name, inside the parentheses. You can add as many arguments as you want, just separate them with a comma.</a:t>
            </a:r>
            <a:endParaRPr dirty="0"/>
          </a:p>
        </p:txBody>
      </p:sp>
      <p:sp>
        <p:nvSpPr>
          <p:cNvPr id="423" name="Google Shape;423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Python Function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Argument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5" name="Google Shape;425;p9" descr="A computer screen shot of a black screen with colorful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9036" y="3875136"/>
            <a:ext cx="3655072" cy="28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9"/>
          <p:cNvSpPr txBox="1"/>
          <p:nvPr/>
        </p:nvSpPr>
        <p:spPr>
          <a:xfrm>
            <a:off x="655637" y="4645592"/>
            <a:ext cx="49333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**</a:t>
            </a:r>
            <a:r>
              <a:rPr lang="en-US" sz="1800" b="1" i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Arguments</a:t>
            </a:r>
            <a:r>
              <a:rPr lang="en-US" sz="1800" i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 are often shortened to </a:t>
            </a:r>
            <a:r>
              <a:rPr lang="en-US" sz="1800" b="1" i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args</a:t>
            </a:r>
            <a:r>
              <a:rPr lang="en-US" sz="1800" i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 in Python documentations.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7" name="Google Shape;427;p9"/>
          <p:cNvGrpSpPr/>
          <p:nvPr/>
        </p:nvGrpSpPr>
        <p:grpSpPr>
          <a:xfrm>
            <a:off x="6727371" y="5924939"/>
            <a:ext cx="4582313" cy="369291"/>
            <a:chOff x="4627983" y="3620277"/>
            <a:chExt cx="4582313" cy="369291"/>
          </a:xfrm>
        </p:grpSpPr>
        <p:sp>
          <p:nvSpPr>
            <p:cNvPr id="428" name="Google Shape;428;p9"/>
            <p:cNvSpPr/>
            <p:nvPr/>
          </p:nvSpPr>
          <p:spPr>
            <a:xfrm>
              <a:off x="4627983" y="3704252"/>
              <a:ext cx="699796" cy="233267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p9"/>
            <p:cNvCxnSpPr>
              <a:stCxn id="428" idx="3"/>
            </p:cNvCxnSpPr>
            <p:nvPr/>
          </p:nvCxnSpPr>
          <p:spPr>
            <a:xfrm>
              <a:off x="5327779" y="3820886"/>
              <a:ext cx="2136600" cy="141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0" name="Google Shape;430;p9"/>
            <p:cNvSpPr txBox="1"/>
            <p:nvPr/>
          </p:nvSpPr>
          <p:spPr>
            <a:xfrm>
              <a:off x="7500729" y="3620277"/>
              <a:ext cx="170956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Argument</a:t>
              </a:r>
              <a:endParaRPr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By default, a function must be called with the correct number of arguments. Meaning that if your function expects 2 arguments, you have to call the function with 2 arguments, not more, and not less.</a:t>
            </a:r>
            <a:endParaRPr/>
          </a:p>
        </p:txBody>
      </p:sp>
      <p:sp>
        <p:nvSpPr>
          <p:cNvPr id="452" name="Google Shape;45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Number of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Arguments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4" name="Google Shape;454;p12" descr="A screen 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2325" y="2913499"/>
            <a:ext cx="5970426" cy="356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spcBef>
                <a:spcPts val="0"/>
              </a:spcBef>
              <a:buClr>
                <a:schemeClr val="bg1"/>
              </a:buClr>
            </a:pPr>
            <a:r>
              <a:rPr lang="en-US" dirty="0"/>
              <a:t>In keyword arguments, arguments are assigned based on the name of the arguments. </a:t>
            </a:r>
            <a:endParaRPr dirty="0"/>
          </a:p>
          <a:p>
            <a:pPr indent="-457200" algn="just">
              <a:buClr>
                <a:schemeClr val="bg1"/>
              </a:buClr>
            </a:pPr>
            <a:r>
              <a:rPr lang="en-US" dirty="0"/>
              <a:t>You can also send arguments with the </a:t>
            </a:r>
            <a:r>
              <a:rPr lang="en-US" b="1" i="1" dirty="0"/>
              <a:t>key</a:t>
            </a:r>
            <a:r>
              <a:rPr lang="en-US" b="1" dirty="0"/>
              <a:t> = </a:t>
            </a:r>
            <a:r>
              <a:rPr lang="en-US" b="1" i="1" dirty="0"/>
              <a:t>value</a:t>
            </a:r>
            <a:r>
              <a:rPr lang="en-US" b="1" dirty="0"/>
              <a:t> syntax</a:t>
            </a:r>
            <a:r>
              <a:rPr lang="en-US" dirty="0"/>
              <a:t>.</a:t>
            </a:r>
            <a:endParaRPr dirty="0"/>
          </a:p>
          <a:p>
            <a:pPr indent="-457200" algn="just">
              <a:buClr>
                <a:schemeClr val="bg1"/>
              </a:buClr>
            </a:pPr>
            <a:r>
              <a:rPr lang="en-US" dirty="0"/>
              <a:t>This way the order of the arguments does not matter.</a:t>
            </a:r>
            <a:endParaRPr dirty="0"/>
          </a:p>
        </p:txBody>
      </p:sp>
      <p:sp>
        <p:nvSpPr>
          <p:cNvPr id="459" name="Google Shape;459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Python Keyword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Arguments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61" name="Google Shape;461;p13" descr="A computer screen shot of a computer cod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7749" y="3550987"/>
            <a:ext cx="6153344" cy="3027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CEA3FB-B5FF-B9FA-4CCC-F96FF135D8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6" name="Google Shape;46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</a:pPr>
            <a:r>
              <a:rPr lang="en-US" dirty="0"/>
              <a:t>Function Argument with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Default Values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67" name="Google Shape;467;p14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1438" y="1524677"/>
            <a:ext cx="5434482" cy="511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If you do not know how many arguments that will be passed into your function, add a </a:t>
            </a:r>
            <a:r>
              <a:rPr lang="en-US" b="1" dirty="0">
                <a:solidFill>
                  <a:srgbClr val="FF0000"/>
                </a:solidFill>
              </a:rPr>
              <a:t>*</a:t>
            </a:r>
            <a:r>
              <a:rPr lang="en-US" dirty="0"/>
              <a:t> before the parameter name in the function definition.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This way the function will receive a </a:t>
            </a:r>
            <a:r>
              <a:rPr lang="en-US" b="1" dirty="0"/>
              <a:t>tuple</a:t>
            </a:r>
            <a:r>
              <a:rPr lang="en-US" dirty="0"/>
              <a:t> of arguments, and can access the items accordingly:</a:t>
            </a:r>
            <a:endParaRPr dirty="0"/>
          </a:p>
        </p:txBody>
      </p:sp>
      <p:sp>
        <p:nvSpPr>
          <p:cNvPr id="472" name="Google Shape;47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Arbitrary Arguments,</a:t>
            </a:r>
            <a:r>
              <a:rPr lang="en-US" b="0" dirty="0">
                <a:solidFill>
                  <a:srgbClr val="96C6B5"/>
                </a:solidFill>
              </a:rPr>
              <a:t>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</a:rPr>
              <a:t>args</a:t>
            </a:r>
            <a:endParaRPr b="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4" name="Google Shape;474;p15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100" y="3888303"/>
            <a:ext cx="5343416" cy="23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5" descr="A screenshot of a computer program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5978" y="3460217"/>
            <a:ext cx="3730414" cy="342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If you do not know how many keyword arguments that will be passed into your function, add two asterisk: </a:t>
            </a:r>
            <a:r>
              <a:rPr lang="en-US" b="1" dirty="0">
                <a:solidFill>
                  <a:srgbClr val="FF0000"/>
                </a:solidFill>
              </a:rPr>
              <a:t>**</a:t>
            </a:r>
            <a:r>
              <a:rPr lang="en-US" dirty="0"/>
              <a:t> before the parameter name in the function definition.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This way the function will receive a </a:t>
            </a:r>
            <a:r>
              <a:rPr lang="en-US" b="1" dirty="0"/>
              <a:t>dictionary</a:t>
            </a:r>
            <a:r>
              <a:rPr lang="en-US" dirty="0"/>
              <a:t> of arguments, and can access the items accordingly:</a:t>
            </a:r>
            <a:endParaRPr dirty="0"/>
          </a:p>
        </p:txBody>
      </p:sp>
      <p:sp>
        <p:nvSpPr>
          <p:cNvPr id="480" name="Google Shape;480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Arbitrary Keyword Arguments,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**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</a:rPr>
              <a:t>kwargs</a:t>
            </a:r>
            <a:endParaRPr b="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82" name="Google Shape;482;p16" descr="A screen 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4696" y="3736382"/>
            <a:ext cx="7039753" cy="2842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return a value from the function using the return statement.</a:t>
            </a:r>
            <a:endParaRPr/>
          </a:p>
        </p:txBody>
      </p:sp>
      <p:sp>
        <p:nvSpPr>
          <p:cNvPr id="487" name="Google Shape;48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return</a:t>
            </a:r>
            <a:r>
              <a:rPr lang="en-US" dirty="0"/>
              <a:t> Statement</a:t>
            </a:r>
            <a:endParaRPr dirty="0"/>
          </a:p>
        </p:txBody>
      </p:sp>
      <p:pic>
        <p:nvPicPr>
          <p:cNvPr id="489" name="Google Shape;489;p17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1076" y="2115250"/>
            <a:ext cx="4177587" cy="44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pass statement serves as a placeholder for future code, preventing errors from empty code blocks.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It's typically used where code is planned but has yet to be written.</a:t>
            </a:r>
            <a:endParaRPr/>
          </a:p>
        </p:txBody>
      </p:sp>
      <p:sp>
        <p:nvSpPr>
          <p:cNvPr id="494" name="Google Shape;4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pass</a:t>
            </a:r>
            <a:r>
              <a:rPr lang="en-US" dirty="0"/>
              <a:t> Statement</a:t>
            </a:r>
            <a:endParaRPr dirty="0"/>
          </a:p>
        </p:txBody>
      </p:sp>
      <p:pic>
        <p:nvPicPr>
          <p:cNvPr id="496" name="Google Shape;496;p18" descr="A screen 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7552" y="3429000"/>
            <a:ext cx="4825464" cy="26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6600"/>
              <a:buFont typeface="Play"/>
              <a:buNone/>
            </a:pPr>
            <a:r>
              <a:rPr lang="en-US" sz="6600"/>
              <a:t>Thanks 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579</Words>
  <Application>Microsoft Office PowerPoint</Application>
  <PresentationFormat>Widescreen</PresentationFormat>
  <Paragraphs>70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Play</vt:lpstr>
      <vt:lpstr>Verdana</vt:lpstr>
      <vt:lpstr>Arial Black</vt:lpstr>
      <vt:lpstr>Office Theme</vt:lpstr>
      <vt:lpstr>Welcome to the Web Application Development with Python L-4 Training Program</vt:lpstr>
      <vt:lpstr>MD. SHAKIL </vt:lpstr>
      <vt:lpstr>Function in Python</vt:lpstr>
      <vt:lpstr>What is Function?</vt:lpstr>
      <vt:lpstr>Why used Functions?</vt:lpstr>
      <vt:lpstr>Types of Function</vt:lpstr>
      <vt:lpstr>Create a Function</vt:lpstr>
      <vt:lpstr>Calling a Function</vt:lpstr>
      <vt:lpstr>Python Function Parameters</vt:lpstr>
      <vt:lpstr>Function with Default Parameters</vt:lpstr>
      <vt:lpstr>Function with Multiple Parameters</vt:lpstr>
      <vt:lpstr>Python Function Argument</vt:lpstr>
      <vt:lpstr>Number of Arguments</vt:lpstr>
      <vt:lpstr>Python Keyword Arguments</vt:lpstr>
      <vt:lpstr>Function Argument with Default Values</vt:lpstr>
      <vt:lpstr>Arbitrary Arguments, *args</vt:lpstr>
      <vt:lpstr>Arbitrary Keyword Arguments, **kwargs</vt:lpstr>
      <vt:lpstr>The return Statement</vt:lpstr>
      <vt:lpstr>The pass Statement</vt:lpstr>
      <vt:lpstr>Thanks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 SHAKIL</dc:creator>
  <cp:lastModifiedBy>MD SHAKIL</cp:lastModifiedBy>
  <cp:revision>10</cp:revision>
  <dcterms:created xsi:type="dcterms:W3CDTF">2024-08-22T18:44:27Z</dcterms:created>
  <dcterms:modified xsi:type="dcterms:W3CDTF">2026-03-10T00:04:18Z</dcterms:modified>
</cp:coreProperties>
</file>