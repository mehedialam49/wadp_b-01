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4" r:id="rId3"/>
    <p:sldId id="258" r:id="rId4"/>
    <p:sldId id="259" r:id="rId5"/>
    <p:sldId id="260" r:id="rId6"/>
    <p:sldId id="282" r:id="rId7"/>
    <p:sldId id="261" r:id="rId8"/>
    <p:sldId id="28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embeddedFontLst>
    <p:embeddedFont>
      <p:font typeface="Arial Black" pitchFamily="34" charset="0"/>
      <p:bold r:id="rId30"/>
    </p:embeddedFont>
    <p:embeddedFont>
      <p:font typeface="Play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gopX4rhqXBEzInspFATHNH6hOR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484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89575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xmlns="" id="{111960E1-AAEB-C12A-8AFC-2A7470DC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:notes">
            <a:extLst>
              <a:ext uri="{FF2B5EF4-FFF2-40B4-BE49-F238E27FC236}">
                <a16:creationId xmlns:a16="http://schemas.microsoft.com/office/drawing/2014/main" xmlns="" id="{208C5D69-DDA7-E334-60F6-A81F56F3D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5:notes">
            <a:extLst>
              <a:ext uri="{FF2B5EF4-FFF2-40B4-BE49-F238E27FC236}">
                <a16:creationId xmlns:a16="http://schemas.microsoft.com/office/drawing/2014/main" xmlns="" id="{7ECE7C07-084A-FBF2-C4A9-847A02786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:notes">
            <a:extLst>
              <a:ext uri="{FF2B5EF4-FFF2-40B4-BE49-F238E27FC236}">
                <a16:creationId xmlns:a16="http://schemas.microsoft.com/office/drawing/2014/main" xmlns="" id="{F68A1F5B-D996-C44C-E77D-BAFFB33266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226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xmlns="" id="{F6EE7D1B-4111-7AE6-2045-1221970D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:notes">
            <a:extLst>
              <a:ext uri="{FF2B5EF4-FFF2-40B4-BE49-F238E27FC236}">
                <a16:creationId xmlns:a16="http://schemas.microsoft.com/office/drawing/2014/main" xmlns="" id="{09021B3E-87AD-7B96-7BF4-672FC2ADC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5:notes">
            <a:extLst>
              <a:ext uri="{FF2B5EF4-FFF2-40B4-BE49-F238E27FC236}">
                <a16:creationId xmlns:a16="http://schemas.microsoft.com/office/drawing/2014/main" xmlns="" id="{3B86E4CC-8401-762E-B845-0D03F5833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:notes">
            <a:extLst>
              <a:ext uri="{FF2B5EF4-FFF2-40B4-BE49-F238E27FC236}">
                <a16:creationId xmlns:a16="http://schemas.microsoft.com/office/drawing/2014/main" xmlns="" id="{60BAFFBA-C544-2640-D016-331592906C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6738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1" name="Google Shape;7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Slide">
  <p:cSld name="Custom 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8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7474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8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20" name="Google Shape;20;p28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8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8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28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Play"/>
              <a:buNone/>
              <a:defRPr sz="5400" b="1">
                <a:solidFill>
                  <a:srgbClr val="7F7F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28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6" name="Google Shape;26;p28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rgbClr val="3A3A3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28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3A3A3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28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74747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9" name="Google Shape;29;p28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30" name="Google Shape;30;p28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28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" name="Google Shape;32;p28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33" name="Google Shape;33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4" name="Google Shape;34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5" name="Google Shape;35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6" name="Google Shape;36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7" name="Google Shape;37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8" name="Google Shape;38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9" name="Google Shape;39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5202485" y="5158622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0" name="Google Shape;40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1" name="Google Shape;41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2" name="Google Shape;42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68546" y="1397768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3" name="Google Shape;43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4" name="Google Shape;44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5" name="Google Shape;45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6" name="Google Shape;46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7" name="Google Shape;47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8" name="Google Shape;48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9" name="Google Shape;49;p28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50" name="Google Shape;50;p28"/>
          <p:cNvSpPr txBox="1"/>
          <p:nvPr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Content Slide without Title">
  <p:cSld name="Custom Content Slide without Title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0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30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30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30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" name="Google Shape;86;p30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7" name="Google Shape;87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88" name="Google Shape;88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89" name="Google Shape;89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0" name="Google Shape;90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1" name="Google Shape;91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2" name="Google Shape;92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3" name="Google Shape;93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4" name="Google Shape;94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5" name="Google Shape;95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6" name="Google Shape;96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4946076" y="2992647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7" name="Google Shape;97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8" name="Google Shape;98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9" name="Google Shape;99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0" name="Google Shape;100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30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655637" y="1684338"/>
            <a:ext cx="10952623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0"/>
          <p:cNvSpPr txBox="1"/>
          <p:nvPr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Content Slide with Title">
  <p:cSld name="Custom Content Slide with Title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8" name="Google Shape;108;p31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1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31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112" name="Google Shape;112;p31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31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" name="Google Shape;114;p31" descr="Python White Icons – Free Download SVG, PNG, 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31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16" name="Google Shape;116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7" name="Google Shape;117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8" name="Google Shape;118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9" name="Google Shape;119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0" name="Google Shape;120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1" name="Google Shape;121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2" name="Google Shape;122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3" name="Google Shape;123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4" name="Google Shape;124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5" name="Google Shape;125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4946076" y="2992647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6" name="Google Shape;126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7" name="Google Shape;127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8" name="Google Shape;128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9" name="Google Shape;129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0" name="Google Shape;130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1" name="Google Shape;131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2" name="Google Shape;132;p31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31"/>
          <p:cNvSpPr txBox="1">
            <a:spLocks noGrp="1"/>
          </p:cNvSpPr>
          <p:nvPr>
            <p:ph type="body" idx="1"/>
          </p:nvPr>
        </p:nvSpPr>
        <p:spPr>
          <a:xfrm>
            <a:off x="655637" y="1684338"/>
            <a:ext cx="10952623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569851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5" name="Google Shape;135;p31"/>
          <p:cNvSpPr txBox="1"/>
          <p:nvPr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Lecture No">
  <p:cSld name="Title Slide with Lecture No"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2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2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 cap="flat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2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Play"/>
              <a:buNone/>
              <a:defRPr sz="5400" b="1">
                <a:solidFill>
                  <a:srgbClr val="7F7F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42" name="Google Shape;142;p32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32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7200"/>
              <a:buNone/>
              <a:defRPr sz="72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5" name="Google Shape;145;p32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146" name="Google Shape;146;p32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32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" name="Google Shape;148;p32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49" name="Google Shape;149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0" name="Google Shape;150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1" name="Google Shape;151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2" name="Google Shape;152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3" name="Google Shape;153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4" name="Google Shape;154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5" name="Google Shape;155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6" name="Google Shape;156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7" name="Google Shape;157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8" name="Google Shape;158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4946076" y="2992647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9" name="Google Shape;159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0" name="Google Shape;160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1" name="Google Shape;161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2" name="Google Shape;162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3" name="Google Shape;163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4" name="Google Shape;164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5" name="Google Shape;165;p3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32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 txBox="1"/>
          <p:nvPr/>
        </p:nvSpPr>
        <p:spPr>
          <a:xfrm>
            <a:off x="1" y="6203484"/>
            <a:ext cx="22605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33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72" name="Google Shape;172;p33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3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3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33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33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78" name="Google Shape;178;p33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" name="Google Shape;179;p33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" name="Google Shape;180;p33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1" name="Google Shape;181;p33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182" name="Google Shape;182;p33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83" name="Google Shape;183;p3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3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34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87" name="Google Shape;187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88" name="Google Shape;188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89" name="Google Shape;189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0" name="Google Shape;190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1" name="Google Shape;191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2" name="Google Shape;192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3" name="Google Shape;193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4" name="Google Shape;194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5" name="Google Shape;195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6" name="Google Shape;196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7" name="Google Shape;197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8" name="Google Shape;198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9" name="Google Shape;199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0" name="Google Shape;200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1" name="Google Shape;201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2" name="Google Shape;202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3" name="Google Shape;203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4" name="Google Shape;204;p34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34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4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207" name="Google Shape;207;p34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4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4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0" name="Google Shape;210;p34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34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2" name="Google Shape;212;p34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3" name="Google Shape;213;p34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4" name="Google Shape;214;p34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5" name="Google Shape;215;p34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4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17" name="Google Shape;217;p34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218" name="Google Shape;218;p34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4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4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34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222" name="Google Shape;222;p34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34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pic>
        <p:nvPicPr>
          <p:cNvPr id="224" name="Google Shape;224;p34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3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5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5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0" name="Google Shape;230;p35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35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5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35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35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235" name="Google Shape;235;p35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36" name="Google Shape;236;p35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35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6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6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6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3" name="Google Shape;243;p36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6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6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247" name="Google Shape;247;p36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248" name="Google Shape;248;p36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36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7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7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5" name="Google Shape;255;p37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7" name="Google Shape;257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8" name="Google Shape;258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0" name="Google Shape;260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1" name="Google Shape;261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3" name="Google Shape;263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3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6" name="Google Shape;266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7" name="Google Shape;267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9" name="Google Shape;269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0" name="Google Shape;270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2" name="Google Shape;272;p3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3" name="Google Shape;273;p37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7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7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7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37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7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7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80" name="Google Shape;280;p37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81" name="Google Shape;281;p37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37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8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8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88" name="Google Shape;288;p38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0" name="Google Shape;290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1" name="Google Shape;291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2" name="Google Shape;292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3" name="Google Shape;293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4" name="Google Shape;294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5" name="Google Shape;295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6" name="Google Shape;296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7" name="Google Shape;297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8" name="Google Shape;298;p3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9" name="Google Shape;299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0" name="Google Shape;300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2" name="Google Shape;302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3" name="Google Shape;303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5" name="Google Shape;305;p3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6" name="Google Shape;306;p38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8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8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8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8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38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8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315" name="Google Shape;315;p38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316" name="Google Shape;316;p38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38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39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9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3" name="Google Shape;323;p39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5" name="Google Shape;325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6" name="Google Shape;326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7" name="Google Shape;327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8" name="Google Shape;328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9" name="Google Shape;329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0" name="Google Shape;330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1" name="Google Shape;331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2" name="Google Shape;332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3" name="Google Shape;333;p3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4" name="Google Shape;334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5" name="Google Shape;335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7" name="Google Shape;337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8" name="Google Shape;338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0" name="Google Shape;340;p3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1" name="Google Shape;341;p39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9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9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9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39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9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348" name="Google Shape;348;p39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349" name="Google Shape;349;p39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39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3" name="Google Shape;353;p40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0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0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40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0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9" name="Google Shape;359;p40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0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1" name="Google Shape;361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2" name="Google Shape;362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3" name="Google Shape;363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4" name="Google Shape;364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5" name="Google Shape;365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6" name="Google Shape;366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7" name="Google Shape;367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8" name="Google Shape;368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9" name="Google Shape;369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0" name="Google Shape;370;p4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1" name="Google Shape;371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2" name="Google Shape;372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4" name="Google Shape;374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6" name="Google Shape;376;p4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7" name="Google Shape;377;p40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0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0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0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382" name="Google Shape;382;p40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383" name="Google Shape;383;p40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40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/>
          <p:nvPr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1"/>
          <p:cNvSpPr/>
          <p:nvPr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41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1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2" name="Google Shape;392;p41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4" name="Google Shape;394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6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5" name="Google Shape;395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6" name="Google Shape;396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2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7" name="Google Shape;397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5" r="4529" b="15135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8" name="Google Shape;398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9" name="Google Shape;399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0" name="Google Shape;400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1" name="Google Shape;401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2" name="Google Shape;402;p4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3" name="Google Shape;403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4" name="Google Shape;404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6" name="Google Shape;406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7" name="Google Shape;407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9" name="Google Shape;409;p4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0" name="Google Shape;410;p4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1" name="Google Shape;411;p41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1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41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414" name="Google Shape;414;p41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415" name="Google Shape;415;p41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41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2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2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2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2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2" name="Google Shape;422;p42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2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4" name="Google Shape;424;p42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425" name="Google Shape;425;p42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26" name="Google Shape;426;p42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42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3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43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433" name="Google Shape;433;p43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3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43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43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437" name="Google Shape;437;p43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438" name="Google Shape;438;p4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4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5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45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1" name="Google Shape;45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45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453" name="Google Shape;453;p45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5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455" name="Google Shape;455;p45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46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1" name="Google Shape;46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6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4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7" name="Google Shape;467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3" name="Google Shape;473;p4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4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5" name="Google Shape;475;p4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1" name="Google Shape;491;p5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2" name="Google Shape;49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5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5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9" name="Google Shape;499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5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5" name="Google Shape;505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5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1" name="Google Shape;511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8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"/>
          <p:cNvSpPr txBox="1">
            <a:spLocks noGrp="1"/>
          </p:cNvSpPr>
          <p:nvPr>
            <p:ph type="ctrTitle"/>
          </p:nvPr>
        </p:nvSpPr>
        <p:spPr>
          <a:xfrm>
            <a:off x="676656" y="2843640"/>
            <a:ext cx="10762488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Arial"/>
              <a:buNone/>
            </a:pPr>
            <a:r>
              <a:rPr lang="en-US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“On the way with Python”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Play"/>
              <a:buNone/>
            </a:pPr>
            <a:r>
              <a:rPr lang="en-US" dirty="0">
                <a:latin typeface="Arial Black" panose="020B0A04020102020204" pitchFamily="34" charset="0"/>
              </a:rPr>
              <a:t>Start with Python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571" name="Google Shape;571;p3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Arial Black" panose="020B0A04020102020204" pitchFamily="34" charset="0"/>
              </a:rPr>
              <a:t>Lecture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572" name="Google Shape;572;p3"/>
          <p:cNvSpPr txBox="1">
            <a:spLocks noGrp="1"/>
          </p:cNvSpPr>
          <p:nvPr>
            <p:ph type="body" idx="3"/>
          </p:nvPr>
        </p:nvSpPr>
        <p:spPr>
          <a:xfrm>
            <a:off x="1938528" y="3276600"/>
            <a:ext cx="1536192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200"/>
              <a:buNone/>
            </a:pPr>
            <a:r>
              <a:rPr lang="en-US" sz="6600" dirty="0">
                <a:latin typeface="Arial Black" panose="020B0A04020102020204" pitchFamily="34" charset="0"/>
              </a:rPr>
              <a:t>01</a:t>
            </a:r>
            <a:endParaRPr sz="6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"/>
          <p:cNvSpPr txBox="1"/>
          <p:nvPr/>
        </p:nvSpPr>
        <p:spPr>
          <a:xfrm>
            <a:off x="1228725" y="3356298"/>
            <a:ext cx="9734550" cy="193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Arial"/>
              <a:buNone/>
            </a:pPr>
            <a:r>
              <a:rPr lang="en-US" sz="5400" b="1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Purpose</a:t>
            </a:r>
            <a:r>
              <a:rPr lang="en-US" sz="5400" b="1" dirty="0">
                <a:solidFill>
                  <a:srgbClr val="F1CC4D"/>
                </a:solidFill>
                <a:latin typeface="Arial Black" panose="020B0A04020102020204" pitchFamily="34" charset="0"/>
                <a:sym typeface="Arial"/>
              </a:rPr>
              <a:t> </a:t>
            </a:r>
            <a:r>
              <a:rPr lang="en-US" sz="5400" b="1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of the Class</a:t>
            </a:r>
            <a:endParaRPr sz="5400" b="1" dirty="0">
              <a:solidFill>
                <a:schemeClr val="lt1"/>
              </a:solidFill>
              <a:latin typeface="Arial Black" panose="020B0A04020102020204" pitchFamily="34" charset="0"/>
              <a:sym typeface="Arial"/>
            </a:endParaRPr>
          </a:p>
        </p:txBody>
      </p:sp>
      <p:pic>
        <p:nvPicPr>
          <p:cNvPr id="540" name="Google Shape;540;p3" descr="A red white and blue target with a arrow in the cen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050" y="1314450"/>
            <a:ext cx="22479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"/>
          <p:cNvSpPr txBox="1"/>
          <p:nvPr/>
        </p:nvSpPr>
        <p:spPr>
          <a:xfrm>
            <a:off x="2123403" y="4086391"/>
            <a:ext cx="7945193" cy="1462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What is </a:t>
            </a:r>
            <a:r>
              <a:rPr lang="en-US" sz="6000" b="1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Python?</a:t>
            </a:r>
            <a:endParaRPr sz="6000" b="1" dirty="0">
              <a:solidFill>
                <a:srgbClr val="7F7F7F"/>
              </a:solidFill>
              <a:latin typeface="Arial Black" panose="020B0A04020102020204" pitchFamily="34" charset="0"/>
              <a:sym typeface="Arial"/>
            </a:endParaRPr>
          </a:p>
        </p:txBody>
      </p:sp>
      <p:pic>
        <p:nvPicPr>
          <p:cNvPr id="547" name="Google Shape;547;p4" descr="thinking cartoon png - Clip Art Librar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6792" y="787977"/>
            <a:ext cx="3298415" cy="3298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9A7DA74-7D60-5443-ACDB-EAD118A79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Python is an interpreted, object-oriented, high-level, and general-purpose programming language. Python is known for its simple syntax, readability, and wide range of applications.</a:t>
            </a:r>
          </a:p>
        </p:txBody>
      </p:sp>
      <p:sp>
        <p:nvSpPr>
          <p:cNvPr id="553" name="Google Shape;553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What is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Python?</a:t>
            </a:r>
            <a:endParaRPr sz="28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xmlns="" id="{F6359DC0-8668-D317-3A6E-7C9EE63C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">
            <a:extLst>
              <a:ext uri="{FF2B5EF4-FFF2-40B4-BE49-F238E27FC236}">
                <a16:creationId xmlns:a16="http://schemas.microsoft.com/office/drawing/2014/main" xmlns="" id="{0FF37CAB-CDBA-C203-DBD9-2621C1A82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Evolution of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</a:t>
            </a:r>
            <a:endParaRPr sz="2800" dirty="0">
              <a:latin typeface="Arial Black" panose="020B0A04020102020204" pitchFamily="34" charset="0"/>
            </a:endParaRPr>
          </a:p>
        </p:txBody>
      </p:sp>
      <p:pic>
        <p:nvPicPr>
          <p:cNvPr id="554" name="Google Shape;554;p5">
            <a:extLst>
              <a:ext uri="{FF2B5EF4-FFF2-40B4-BE49-F238E27FC236}">
                <a16:creationId xmlns:a16="http://schemas.microsoft.com/office/drawing/2014/main" xmlns="" id="{BBA791F6-A359-95A8-AB87-5BB825BFDA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733" b="12262"/>
          <a:stretch/>
        </p:blipFill>
        <p:spPr>
          <a:xfrm>
            <a:off x="2258183" y="1856792"/>
            <a:ext cx="7302407" cy="39935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9002000"/>
      </p:ext>
    </p:extLst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"/>
          <p:cNvSpPr txBox="1"/>
          <p:nvPr/>
        </p:nvSpPr>
        <p:spPr>
          <a:xfrm>
            <a:off x="2123403" y="4086391"/>
            <a:ext cx="7945193" cy="1462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Why </a:t>
            </a:r>
            <a:r>
              <a:rPr lang="en-US" sz="6000" b="1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Python?</a:t>
            </a:r>
            <a:endParaRPr sz="6000" b="1" dirty="0">
              <a:solidFill>
                <a:srgbClr val="7F7F7F"/>
              </a:solidFill>
              <a:latin typeface="Arial Black" panose="020B0A04020102020204" pitchFamily="34" charset="0"/>
              <a:sym typeface="Arial"/>
            </a:endParaRPr>
          </a:p>
        </p:txBody>
      </p:sp>
      <p:pic>
        <p:nvPicPr>
          <p:cNvPr id="561" name="Google Shape;561;p6" descr="thinking cartoon png - Clip Art Librar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6792" y="787977"/>
            <a:ext cx="3298415" cy="3298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xmlns="" id="{683E1831-2AB1-2685-35B5-4E7DF14E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167B2D7C-3E06-FF71-6CCC-66470FEB5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and Easy to Learn</a:t>
            </a:r>
          </a:p>
          <a:p>
            <a:r>
              <a:rPr lang="en-US" dirty="0"/>
              <a:t>Versatility</a:t>
            </a:r>
          </a:p>
          <a:p>
            <a:r>
              <a:rPr lang="en-US" dirty="0"/>
              <a:t>Free &amp; Open Sources</a:t>
            </a:r>
          </a:p>
          <a:p>
            <a:r>
              <a:rPr lang="en-US" dirty="0"/>
              <a:t>Portable: Works on Linux/Windows/Mac</a:t>
            </a:r>
          </a:p>
          <a:p>
            <a:r>
              <a:rPr lang="en-US" dirty="0"/>
              <a:t>Strong Community</a:t>
            </a:r>
          </a:p>
          <a:p>
            <a:r>
              <a:rPr lang="en-US" dirty="0"/>
              <a:t>Career Opportunities</a:t>
            </a:r>
          </a:p>
        </p:txBody>
      </p:sp>
      <p:sp>
        <p:nvSpPr>
          <p:cNvPr id="553" name="Google Shape;553;p5">
            <a:extLst>
              <a:ext uri="{FF2B5EF4-FFF2-40B4-BE49-F238E27FC236}">
                <a16:creationId xmlns:a16="http://schemas.microsoft.com/office/drawing/2014/main" xmlns="" id="{9E8DEA6A-B559-A944-FCDC-98A7CA77F9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Why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Python?</a:t>
            </a:r>
            <a:endParaRPr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346278"/>
      </p:ext>
    </p:extLst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"/>
          <p:cNvSpPr txBox="1"/>
          <p:nvPr/>
        </p:nvSpPr>
        <p:spPr>
          <a:xfrm>
            <a:off x="1795127" y="3429000"/>
            <a:ext cx="8601747" cy="1462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b="1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Importance of </a:t>
            </a:r>
            <a:r>
              <a:rPr lang="en-US" sz="5400" b="1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Python</a:t>
            </a:r>
            <a:endParaRPr sz="5400" b="1" dirty="0">
              <a:solidFill>
                <a:srgbClr val="7F7F7F"/>
              </a:solidFill>
              <a:latin typeface="Arial Black" panose="020B0A04020102020204" pitchFamily="34" charset="0"/>
              <a:sym typeface="Arial"/>
            </a:endParaRPr>
          </a:p>
        </p:txBody>
      </p:sp>
      <p:pic>
        <p:nvPicPr>
          <p:cNvPr id="576" name="Google Shape;57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6299" y="1609598"/>
            <a:ext cx="1819402" cy="1819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02226B34-466F-707D-DA65-A92386711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pPr marL="228600" lvl="0" indent="-228600">
              <a:spcBef>
                <a:spcPts val="0"/>
              </a:spcBef>
              <a:buSzPts val="3200"/>
            </a:pPr>
            <a:r>
              <a:rPr lang="en-US" dirty="0">
                <a:latin typeface="Aptos" panose="020B0004020202020204" pitchFamily="34" charset="0"/>
              </a:rPr>
              <a:t>Web Development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Game Development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Data Science &amp; Analytics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Machine Learning &amp; AI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Automation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IOT &amp; Robotic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Cybersecurity</a:t>
            </a:r>
          </a:p>
          <a:p>
            <a:pPr marL="228600" lvl="0" indent="-228600">
              <a:buSzPts val="3200"/>
            </a:pPr>
            <a:endParaRPr lang="en-US" dirty="0">
              <a:latin typeface="Aptos" panose="020B0004020202020204" pitchFamily="34" charset="0"/>
            </a:endParaRPr>
          </a:p>
          <a:p>
            <a:pPr marL="0" lvl="0" indent="0">
              <a:buSzPts val="3200"/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Scientific Computing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Cloud Computing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Research &amp; Development</a:t>
            </a:r>
          </a:p>
          <a:p>
            <a:pPr marL="228600" lvl="0" indent="-228600">
              <a:buSzPts val="3200"/>
            </a:pPr>
            <a:r>
              <a:rPr lang="en-US" dirty="0">
                <a:latin typeface="Aptos" panose="020B0004020202020204" pitchFamily="34" charset="0"/>
              </a:rPr>
              <a:t>Software Development</a:t>
            </a:r>
          </a:p>
        </p:txBody>
      </p:sp>
      <p:sp>
        <p:nvSpPr>
          <p:cNvPr id="582" name="Google Shape;582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4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Career Opportunities of </a:t>
            </a:r>
            <a:r>
              <a:rPr lang="en-US" sz="340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</a:t>
            </a:r>
            <a:endParaRPr sz="3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"/>
          <p:cNvSpPr txBox="1">
            <a:spLocks noGrp="1"/>
          </p:cNvSpPr>
          <p:nvPr>
            <p:ph type="ctrTitle"/>
          </p:nvPr>
        </p:nvSpPr>
        <p:spPr>
          <a:xfrm>
            <a:off x="0" y="2843640"/>
            <a:ext cx="12192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000"/>
              <a:buFont typeface="Arial"/>
              <a:buNone/>
            </a:pPr>
            <a:r>
              <a:rPr lang="en-US" sz="400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“Sector-wise Topics </a:t>
            </a:r>
            <a:r>
              <a:rPr lang="en-US" sz="40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Specification”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312E7B88-F100-E9BB-431F-E86CF90D2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-457200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200" dirty="0"/>
              <a:t>Django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Flask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 err="1"/>
              <a:t>FastAPI</a:t>
            </a:r>
            <a:endParaRPr lang="en-US" sz="3200" dirty="0"/>
          </a:p>
          <a:p>
            <a:endParaRPr lang="en-US" dirty="0"/>
          </a:p>
        </p:txBody>
      </p:sp>
      <p:sp>
        <p:nvSpPr>
          <p:cNvPr id="594" name="Google Shape;594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4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 for </a:t>
            </a:r>
            <a:r>
              <a:rPr lang="en-US" sz="340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Web Development</a:t>
            </a:r>
            <a:endParaRPr sz="3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889CF350-7EB9-885C-9F7C-CB9AD9C0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-457200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200" dirty="0" err="1"/>
              <a:t>Pygame</a:t>
            </a:r>
            <a:endParaRPr lang="en-US" sz="3200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Panda3D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Godot</a:t>
            </a:r>
            <a:endParaRPr lang="en-US" dirty="0"/>
          </a:p>
          <a:p>
            <a:endParaRPr lang="en-US" dirty="0"/>
          </a:p>
        </p:txBody>
      </p:sp>
      <p:sp>
        <p:nvSpPr>
          <p:cNvPr id="601" name="Google Shape;601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 for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Game Development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B03D1A1C-92C3-3CE6-02F9-8CE8A25EB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-457200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200" dirty="0" err="1"/>
              <a:t>PyQt</a:t>
            </a:r>
            <a:endParaRPr lang="en-US" sz="3200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 err="1"/>
              <a:t>Tkinter</a:t>
            </a:r>
            <a:endParaRPr lang="en-US" sz="3200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 err="1"/>
              <a:t>Kivy</a:t>
            </a:r>
            <a:r>
              <a:rPr lang="en-US" sz="3200" dirty="0"/>
              <a:t> (Cross-Platform)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Electron</a:t>
            </a:r>
            <a:endParaRPr lang="en-US" dirty="0"/>
          </a:p>
          <a:p>
            <a:endParaRPr lang="en-US" dirty="0"/>
          </a:p>
        </p:txBody>
      </p:sp>
      <p:sp>
        <p:nvSpPr>
          <p:cNvPr id="608" name="Google Shape;60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4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 for </a:t>
            </a:r>
            <a:r>
              <a:rPr lang="en-US" sz="340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Desktop Application</a:t>
            </a:r>
            <a:endParaRPr sz="3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2E7F49B9-9BE2-E28B-6AB6-EA3456DF1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-457200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200" dirty="0"/>
              <a:t>Pandas (Data Manipulation)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NumPy (Numerical Computing)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Matplotlib/Seaborn (Visualization)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SciPy (Scientific Computing)</a:t>
            </a:r>
            <a:endParaRPr lang="en-US" dirty="0"/>
          </a:p>
          <a:p>
            <a:endParaRPr lang="en-US" dirty="0"/>
          </a:p>
        </p:txBody>
      </p:sp>
      <p:sp>
        <p:nvSpPr>
          <p:cNvPr id="615" name="Google Shape;615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 for </a:t>
            </a:r>
            <a:r>
              <a:rPr lang="en-US" sz="280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Data Science &amp; Analytics</a:t>
            </a:r>
            <a:endParaRPr sz="2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AF0BCA8C-A47E-C01F-1968-BE6C0EB66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-457200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200" dirty="0"/>
              <a:t>Scikit-learn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TensorFlow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 err="1"/>
              <a:t>PyTorch</a:t>
            </a:r>
            <a:endParaRPr lang="en-US" sz="3200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 err="1"/>
              <a:t>Keras</a:t>
            </a:r>
            <a:endParaRPr lang="en-US" sz="3200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OpenCV</a:t>
            </a:r>
            <a:endParaRPr lang="en-US" dirty="0"/>
          </a:p>
          <a:p>
            <a:endParaRPr lang="en-US" dirty="0"/>
          </a:p>
        </p:txBody>
      </p:sp>
      <p:sp>
        <p:nvSpPr>
          <p:cNvPr id="622" name="Google Shape;62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 for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AI &amp; ML</a:t>
            </a:r>
            <a:endParaRPr sz="28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C643412C-540D-9608-2662-495FA8F77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-457200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200" dirty="0"/>
              <a:t>GPIO Zero (Raspberry Pi)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 err="1"/>
              <a:t>MicroPython</a:t>
            </a:r>
            <a:r>
              <a:rPr lang="en-US" sz="3200" dirty="0"/>
              <a:t> (Embedded Systems)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ROS (Robot Operating System)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OpenCV</a:t>
            </a:r>
            <a:endParaRPr lang="en-US" dirty="0"/>
          </a:p>
          <a:p>
            <a:pPr lvl="1" indent="-457200">
              <a:lnSpc>
                <a:spcPct val="150000"/>
              </a:lnSpc>
              <a:buSzPts val="3200"/>
            </a:pPr>
            <a:r>
              <a:rPr lang="en-US" sz="3200" dirty="0"/>
              <a:t>TensorFlow Lite</a:t>
            </a:r>
            <a:endParaRPr lang="en-US" dirty="0"/>
          </a:p>
          <a:p>
            <a:endParaRPr lang="en-US" dirty="0"/>
          </a:p>
        </p:txBody>
      </p:sp>
      <p:sp>
        <p:nvSpPr>
          <p:cNvPr id="629" name="Google Shape;62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 for </a:t>
            </a:r>
            <a:r>
              <a:rPr lang="en-US" sz="360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IoT &amp; Robotics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7"/>
          <p:cNvSpPr txBox="1"/>
          <p:nvPr/>
        </p:nvSpPr>
        <p:spPr>
          <a:xfrm>
            <a:off x="0" y="1987419"/>
            <a:ext cx="12192000" cy="284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AFTER THAAAAT…</a:t>
            </a:r>
            <a:endParaRPr sz="4400" dirty="0">
              <a:latin typeface="Arial Black" panose="020B0A04020102020204" pitchFamily="34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I want to become </a:t>
            </a:r>
            <a:r>
              <a:rPr lang="en-US" sz="4400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WHAT???</a:t>
            </a:r>
            <a:r>
              <a:rPr lang="en-US" sz="4400" dirty="0">
                <a:solidFill>
                  <a:srgbClr val="FBBB09"/>
                </a:solidFill>
                <a:latin typeface="Arial Black" panose="020B0A04020102020204" pitchFamily="34" charset="0"/>
                <a:sym typeface="Arial"/>
              </a:rPr>
              <a:t>🤔</a:t>
            </a:r>
            <a:br>
              <a:rPr lang="en-US" sz="4400" dirty="0">
                <a:solidFill>
                  <a:srgbClr val="FBBB09"/>
                </a:solidFill>
                <a:latin typeface="Arial Black" panose="020B0A04020102020204" pitchFamily="34" charset="0"/>
                <a:sym typeface="Arial"/>
              </a:rPr>
            </a:br>
            <a:r>
              <a:rPr lang="en-US" sz="4400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Decision</a:t>
            </a:r>
            <a:r>
              <a:rPr lang="en-US" sz="4400" dirty="0">
                <a:solidFill>
                  <a:srgbClr val="FBBB09"/>
                </a:solidFill>
                <a:latin typeface="Arial Black" panose="020B0A04020102020204" pitchFamily="34" charset="0"/>
                <a:sym typeface="Arial"/>
              </a:rPr>
              <a:t> </a:t>
            </a:r>
            <a:r>
              <a:rPr lang="en-US" sz="4400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PENDING!!!😵‍💫</a:t>
            </a:r>
            <a:endParaRPr sz="4400" dirty="0">
              <a:solidFill>
                <a:srgbClr val="7F7F7F"/>
              </a:solidFill>
              <a:latin typeface="Arial Black" panose="020B0A04020102020204" pitchFamily="34" charset="0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8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000"/>
              <a:buFont typeface="Arial"/>
              <a:buNone/>
            </a:pPr>
            <a:r>
              <a:rPr lang="en-US" sz="400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“Let’s Know about </a:t>
            </a:r>
            <a:r>
              <a:rPr lang="en-US" sz="40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</a:t>
            </a:r>
            <a:r>
              <a:rPr lang="en-US" sz="4000" dirty="0">
                <a:solidFill>
                  <a:srgbClr val="FBBB09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😎</a:t>
            </a:r>
            <a:r>
              <a:rPr lang="en-US" sz="400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”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19"/>
          <p:cNvPicPr preferRelativeResize="0"/>
          <p:nvPr/>
        </p:nvPicPr>
        <p:blipFill rotWithShape="1">
          <a:blip r:embed="rId3">
            <a:alphaModFix/>
          </a:blip>
          <a:srcRect t="14557" b="12653"/>
          <a:stretch/>
        </p:blipFill>
        <p:spPr>
          <a:xfrm>
            <a:off x="4019485" y="1175658"/>
            <a:ext cx="3854450" cy="4991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0"/>
          <p:cNvSpPr txBox="1"/>
          <p:nvPr/>
        </p:nvSpPr>
        <p:spPr>
          <a:xfrm>
            <a:off x="656253" y="1287625"/>
            <a:ext cx="10879494" cy="149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Now I’m a Python </a:t>
            </a:r>
            <a:r>
              <a:rPr lang="en-US" sz="4800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Programmer😎</a:t>
            </a:r>
            <a:endParaRPr sz="4800" dirty="0">
              <a:solidFill>
                <a:srgbClr val="FBBB09"/>
              </a:solidFill>
              <a:latin typeface="Arial Black" panose="020B0A04020102020204" pitchFamily="34" charset="0"/>
              <a:sym typeface="Arial"/>
            </a:endParaRPr>
          </a:p>
        </p:txBody>
      </p:sp>
      <p:pic>
        <p:nvPicPr>
          <p:cNvPr id="655" name="Google Shape;65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951" y="2311689"/>
            <a:ext cx="6746033" cy="4840374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20"/>
          <p:cNvSpPr txBox="1"/>
          <p:nvPr/>
        </p:nvSpPr>
        <p:spPr>
          <a:xfrm rot="-1948599">
            <a:off x="2971436" y="3343410"/>
            <a:ext cx="23567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 Developer</a:t>
            </a:r>
            <a:endParaRPr dirty="0"/>
          </a:p>
        </p:txBody>
      </p:sp>
      <p:sp>
        <p:nvSpPr>
          <p:cNvPr id="657" name="Google Shape;657;p20"/>
          <p:cNvSpPr txBox="1"/>
          <p:nvPr/>
        </p:nvSpPr>
        <p:spPr>
          <a:xfrm rot="-2455710">
            <a:off x="6522185" y="3481083"/>
            <a:ext cx="2997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Machine Learning Engineer</a:t>
            </a:r>
            <a:endParaRPr/>
          </a:p>
        </p:txBody>
      </p:sp>
      <p:sp>
        <p:nvSpPr>
          <p:cNvPr id="658" name="Google Shape;658;p20"/>
          <p:cNvSpPr txBox="1"/>
          <p:nvPr/>
        </p:nvSpPr>
        <p:spPr>
          <a:xfrm rot="-1948599">
            <a:off x="7674590" y="4073312"/>
            <a:ext cx="23567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Engineer</a:t>
            </a:r>
            <a:endParaRPr/>
          </a:p>
        </p:txBody>
      </p:sp>
      <p:sp>
        <p:nvSpPr>
          <p:cNvPr id="659" name="Google Shape;659;p20"/>
          <p:cNvSpPr txBox="1"/>
          <p:nvPr/>
        </p:nvSpPr>
        <p:spPr>
          <a:xfrm rot="-1948599">
            <a:off x="2160696" y="4547209"/>
            <a:ext cx="23567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Analyst</a:t>
            </a:r>
            <a:endParaRPr dirty="0"/>
          </a:p>
        </p:txBody>
      </p:sp>
      <p:sp>
        <p:nvSpPr>
          <p:cNvPr id="660" name="Google Shape;660;p20"/>
          <p:cNvSpPr txBox="1"/>
          <p:nvPr/>
        </p:nvSpPr>
        <p:spPr>
          <a:xfrm rot="-1948599">
            <a:off x="1576897" y="3225081"/>
            <a:ext cx="23567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Backend Developer</a:t>
            </a:r>
            <a:endParaRPr dirty="0"/>
          </a:p>
        </p:txBody>
      </p:sp>
      <p:sp>
        <p:nvSpPr>
          <p:cNvPr id="661" name="Google Shape;661;p20"/>
          <p:cNvSpPr txBox="1"/>
          <p:nvPr/>
        </p:nvSpPr>
        <p:spPr>
          <a:xfrm rot="-1948599">
            <a:off x="8404066" y="4920435"/>
            <a:ext cx="23567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Automation Engineer</a:t>
            </a:r>
            <a:endParaRPr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1"/>
          <p:cNvSpPr txBox="1"/>
          <p:nvPr/>
        </p:nvSpPr>
        <p:spPr>
          <a:xfrm>
            <a:off x="1052312" y="1306285"/>
            <a:ext cx="9434231" cy="99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  <a:latin typeface="Arial Black" panose="020B0A04020102020204" pitchFamily="34" charset="0"/>
                <a:sym typeface="Arial"/>
              </a:rPr>
              <a:t>Uses of </a:t>
            </a:r>
            <a:r>
              <a:rPr lang="en-US" sz="4800" dirty="0">
                <a:solidFill>
                  <a:srgbClr val="7F7F7F"/>
                </a:solidFill>
                <a:latin typeface="Arial Black" panose="020B0A04020102020204" pitchFamily="34" charset="0"/>
                <a:sym typeface="Arial"/>
              </a:rPr>
              <a:t>Python on Different Application!</a:t>
            </a:r>
            <a:endParaRPr sz="4800" dirty="0">
              <a:solidFill>
                <a:srgbClr val="7F7F7F"/>
              </a:solidFill>
              <a:latin typeface="Arial Black" panose="020B0A04020102020204" pitchFamily="34" charset="0"/>
              <a:sym typeface="Arial"/>
            </a:endParaRPr>
          </a:p>
        </p:txBody>
      </p:sp>
      <p:pic>
        <p:nvPicPr>
          <p:cNvPr id="668" name="Google Shape;668;p21" descr="A person sitting in a meditating position with his hands up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8178" y="2034074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2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Web </a:t>
            </a:r>
            <a:r>
              <a:rPr lang="en-US" sz="360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Development</a:t>
            </a:r>
            <a:endParaRPr dirty="0">
              <a:latin typeface="Arial Black" panose="020B0A04020102020204" pitchFamily="34" charset="0"/>
            </a:endParaRPr>
          </a:p>
        </p:txBody>
      </p:sp>
      <p:grpSp>
        <p:nvGrpSpPr>
          <p:cNvPr id="675" name="Google Shape;675;p22"/>
          <p:cNvGrpSpPr/>
          <p:nvPr/>
        </p:nvGrpSpPr>
        <p:grpSpPr>
          <a:xfrm>
            <a:off x="1019707" y="1925400"/>
            <a:ext cx="4682836" cy="3352404"/>
            <a:chOff x="1019707" y="1925400"/>
            <a:chExt cx="4682836" cy="3352404"/>
          </a:xfrm>
        </p:grpSpPr>
        <p:pic>
          <p:nvPicPr>
            <p:cNvPr id="676" name="Google Shape;676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9707" y="4363404"/>
              <a:ext cx="3732242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7" name="Google Shape;677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9707" y="1925400"/>
              <a:ext cx="4682836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22" descr="Quora Logo Full Text transparent PNG - Stick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9707" y="3144402"/>
              <a:ext cx="3301139" cy="914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9" name="Google Shape;679;p22"/>
          <p:cNvGrpSpPr/>
          <p:nvPr/>
        </p:nvGrpSpPr>
        <p:grpSpPr>
          <a:xfrm>
            <a:off x="6486000" y="1925400"/>
            <a:ext cx="3149083" cy="3160096"/>
            <a:chOff x="6486000" y="1925400"/>
            <a:chExt cx="3149083" cy="3160096"/>
          </a:xfrm>
        </p:grpSpPr>
        <p:sp>
          <p:nvSpPr>
            <p:cNvPr id="680" name="Google Shape;680;p22"/>
            <p:cNvSpPr/>
            <p:nvPr/>
          </p:nvSpPr>
          <p:spPr>
            <a:xfrm>
              <a:off x="6486000" y="4171096"/>
              <a:ext cx="3044035" cy="9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22"/>
            <p:cNvGrpSpPr/>
            <p:nvPr/>
          </p:nvGrpSpPr>
          <p:grpSpPr>
            <a:xfrm>
              <a:off x="6486000" y="1925400"/>
              <a:ext cx="3149083" cy="3160008"/>
              <a:chOff x="6486000" y="2117796"/>
              <a:chExt cx="3149083" cy="3160008"/>
            </a:xfrm>
          </p:grpSpPr>
          <p:pic>
            <p:nvPicPr>
              <p:cNvPr id="682" name="Google Shape;682;p22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486000" y="2117796"/>
                <a:ext cx="3044035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3" name="Google Shape;683;p22" descr="Download Instagram Logo Vector PNG Original Logo Big Size"/>
              <p:cNvPicPr preferRelativeResize="0"/>
              <p:nvPr/>
            </p:nvPicPr>
            <p:blipFill rotWithShape="1">
              <a:blip r:embed="rId7">
                <a:alphaModFix/>
              </a:blip>
              <a:srcRect t="36000" b="34963"/>
              <a:stretch/>
            </p:blipFill>
            <p:spPr>
              <a:xfrm>
                <a:off x="6486000" y="3240600"/>
                <a:ext cx="3149083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4" name="Google Shape;684;p22" descr="Reddit Logo PNG Images Free Download | freelogo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486000" y="4363404"/>
                <a:ext cx="2822585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Game </a:t>
            </a:r>
            <a:r>
              <a:rPr lang="en-US" sz="360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Development</a:t>
            </a:r>
            <a:endParaRPr dirty="0">
              <a:latin typeface="Arial Black" panose="020B0A04020102020204" pitchFamily="34" charset="0"/>
            </a:endParaRPr>
          </a:p>
        </p:txBody>
      </p:sp>
      <p:grpSp>
        <p:nvGrpSpPr>
          <p:cNvPr id="691" name="Google Shape;691;p23"/>
          <p:cNvGrpSpPr/>
          <p:nvPr/>
        </p:nvGrpSpPr>
        <p:grpSpPr>
          <a:xfrm>
            <a:off x="2025947" y="2828828"/>
            <a:ext cx="4198025" cy="737099"/>
            <a:chOff x="0" y="67091"/>
            <a:chExt cx="4198025" cy="737099"/>
          </a:xfrm>
        </p:grpSpPr>
        <p:sp>
          <p:nvSpPr>
            <p:cNvPr id="692" name="Google Shape;692;p23"/>
            <p:cNvSpPr/>
            <p:nvPr/>
          </p:nvSpPr>
          <p:spPr>
            <a:xfrm>
              <a:off x="0" y="67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3"/>
            <p:cNvSpPr txBox="1"/>
            <p:nvPr/>
          </p:nvSpPr>
          <p:spPr>
            <a:xfrm>
              <a:off x="35982" y="103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Civilization IV</a:t>
              </a:r>
              <a:endParaRPr dirty="0"/>
            </a:p>
          </p:txBody>
        </p:sp>
      </p:grpSp>
      <p:grpSp>
        <p:nvGrpSpPr>
          <p:cNvPr id="694" name="Google Shape;694;p23"/>
          <p:cNvGrpSpPr/>
          <p:nvPr/>
        </p:nvGrpSpPr>
        <p:grpSpPr>
          <a:xfrm>
            <a:off x="2025947" y="1977747"/>
            <a:ext cx="4198025" cy="737099"/>
            <a:chOff x="0" y="890591"/>
            <a:chExt cx="4198025" cy="737099"/>
          </a:xfrm>
        </p:grpSpPr>
        <p:sp>
          <p:nvSpPr>
            <p:cNvPr id="695" name="Google Shape;695;p23"/>
            <p:cNvSpPr/>
            <p:nvPr/>
          </p:nvSpPr>
          <p:spPr>
            <a:xfrm>
              <a:off x="0" y="890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D5AE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23"/>
            <p:cNvSpPr txBox="1"/>
            <p:nvPr/>
          </p:nvSpPr>
          <p:spPr>
            <a:xfrm>
              <a:off x="35982" y="926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Sims</a:t>
              </a:r>
              <a:endParaRPr dirty="0"/>
            </a:p>
          </p:txBody>
        </p:sp>
      </p:grpSp>
      <p:grpSp>
        <p:nvGrpSpPr>
          <p:cNvPr id="697" name="Google Shape;697;p23"/>
          <p:cNvGrpSpPr/>
          <p:nvPr/>
        </p:nvGrpSpPr>
        <p:grpSpPr>
          <a:xfrm>
            <a:off x="2025947" y="3643927"/>
            <a:ext cx="4198025" cy="737099"/>
            <a:chOff x="0" y="1714091"/>
            <a:chExt cx="4198025" cy="737099"/>
          </a:xfrm>
        </p:grpSpPr>
        <p:sp>
          <p:nvSpPr>
            <p:cNvPr id="698" name="Google Shape;698;p23"/>
            <p:cNvSpPr/>
            <p:nvPr/>
          </p:nvSpPr>
          <p:spPr>
            <a:xfrm>
              <a:off x="0" y="1714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8CAF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3"/>
            <p:cNvSpPr txBox="1"/>
            <p:nvPr/>
          </p:nvSpPr>
          <p:spPr>
            <a:xfrm>
              <a:off x="35982" y="1750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Eve Online</a:t>
              </a:r>
              <a:endParaRPr/>
            </a:p>
          </p:txBody>
        </p:sp>
      </p:grpSp>
      <p:grpSp>
        <p:nvGrpSpPr>
          <p:cNvPr id="700" name="Google Shape;700;p23"/>
          <p:cNvGrpSpPr/>
          <p:nvPr/>
        </p:nvGrpSpPr>
        <p:grpSpPr>
          <a:xfrm>
            <a:off x="2025947" y="4495008"/>
            <a:ext cx="4198025" cy="737099"/>
            <a:chOff x="0" y="2537591"/>
            <a:chExt cx="4198025" cy="737099"/>
          </a:xfrm>
        </p:grpSpPr>
        <p:sp>
          <p:nvSpPr>
            <p:cNvPr id="701" name="Google Shape;701;p23"/>
            <p:cNvSpPr/>
            <p:nvPr/>
          </p:nvSpPr>
          <p:spPr>
            <a:xfrm>
              <a:off x="0" y="2537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3E8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23"/>
            <p:cNvSpPr txBox="1"/>
            <p:nvPr/>
          </p:nvSpPr>
          <p:spPr>
            <a:xfrm>
              <a:off x="35982" y="2573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BattleField 2</a:t>
              </a:r>
              <a:endParaRPr/>
            </a:p>
          </p:txBody>
        </p:sp>
      </p:grpSp>
      <p:grpSp>
        <p:nvGrpSpPr>
          <p:cNvPr id="703" name="Google Shape;703;p23"/>
          <p:cNvGrpSpPr/>
          <p:nvPr/>
        </p:nvGrpSpPr>
        <p:grpSpPr>
          <a:xfrm>
            <a:off x="2025947" y="5346088"/>
            <a:ext cx="4198025" cy="737099"/>
            <a:chOff x="0" y="3361091"/>
            <a:chExt cx="4198025" cy="737099"/>
          </a:xfrm>
        </p:grpSpPr>
        <p:sp>
          <p:nvSpPr>
            <p:cNvPr id="704" name="Google Shape;704;p23"/>
            <p:cNvSpPr/>
            <p:nvPr/>
          </p:nvSpPr>
          <p:spPr>
            <a:xfrm>
              <a:off x="0" y="3361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18692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3"/>
            <p:cNvSpPr txBox="1"/>
            <p:nvPr/>
          </p:nvSpPr>
          <p:spPr>
            <a:xfrm>
              <a:off x="35982" y="3397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Frets on Fire</a:t>
              </a:r>
              <a:endParaRPr/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4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Machine Learning &amp; AI</a:t>
            </a:r>
            <a:endParaRPr sz="3600" dirty="0">
              <a:solidFill>
                <a:srgbClr val="FBBB09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grpSp>
        <p:nvGrpSpPr>
          <p:cNvPr id="712" name="Google Shape;712;p24"/>
          <p:cNvGrpSpPr/>
          <p:nvPr/>
        </p:nvGrpSpPr>
        <p:grpSpPr>
          <a:xfrm>
            <a:off x="1111547" y="1941765"/>
            <a:ext cx="4198025" cy="737099"/>
            <a:chOff x="0" y="67091"/>
            <a:chExt cx="4198025" cy="737099"/>
          </a:xfrm>
        </p:grpSpPr>
        <p:sp>
          <p:nvSpPr>
            <p:cNvPr id="713" name="Google Shape;713;p24"/>
            <p:cNvSpPr/>
            <p:nvPr/>
          </p:nvSpPr>
          <p:spPr>
            <a:xfrm>
              <a:off x="0" y="67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4"/>
            <p:cNvSpPr txBox="1"/>
            <p:nvPr/>
          </p:nvSpPr>
          <p:spPr>
            <a:xfrm>
              <a:off x="35982" y="103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Google – </a:t>
              </a: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Search, Image Recognition</a:t>
              </a: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p24"/>
          <p:cNvGrpSpPr/>
          <p:nvPr/>
        </p:nvGrpSpPr>
        <p:grpSpPr>
          <a:xfrm>
            <a:off x="1111547" y="2792846"/>
            <a:ext cx="4198025" cy="737099"/>
            <a:chOff x="0" y="890591"/>
            <a:chExt cx="4198025" cy="737099"/>
          </a:xfrm>
        </p:grpSpPr>
        <p:sp>
          <p:nvSpPr>
            <p:cNvPr id="716" name="Google Shape;716;p24"/>
            <p:cNvSpPr/>
            <p:nvPr/>
          </p:nvSpPr>
          <p:spPr>
            <a:xfrm>
              <a:off x="0" y="890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D5AE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4"/>
            <p:cNvSpPr txBox="1"/>
            <p:nvPr/>
          </p:nvSpPr>
          <p:spPr>
            <a:xfrm>
              <a:off x="35982" y="926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Netflix - 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Recommendation</a:t>
              </a:r>
              <a:endParaRPr/>
            </a:p>
          </p:txBody>
        </p:sp>
      </p:grpSp>
      <p:grpSp>
        <p:nvGrpSpPr>
          <p:cNvPr id="718" name="Google Shape;718;p24"/>
          <p:cNvGrpSpPr/>
          <p:nvPr/>
        </p:nvGrpSpPr>
        <p:grpSpPr>
          <a:xfrm>
            <a:off x="1111547" y="3643927"/>
            <a:ext cx="4198025" cy="737099"/>
            <a:chOff x="0" y="1714091"/>
            <a:chExt cx="4198025" cy="737099"/>
          </a:xfrm>
        </p:grpSpPr>
        <p:sp>
          <p:nvSpPr>
            <p:cNvPr id="719" name="Google Shape;719;p24"/>
            <p:cNvSpPr/>
            <p:nvPr/>
          </p:nvSpPr>
          <p:spPr>
            <a:xfrm>
              <a:off x="0" y="1714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8CAF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4"/>
            <p:cNvSpPr txBox="1"/>
            <p:nvPr/>
          </p:nvSpPr>
          <p:spPr>
            <a:xfrm>
              <a:off x="35982" y="1750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Amazon – </a:t>
              </a:r>
              <a:r>
                <a:rPr lang="en-US" sz="16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Alexa, Recommendation</a:t>
              </a:r>
              <a:endParaRPr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p24"/>
          <p:cNvGrpSpPr/>
          <p:nvPr/>
        </p:nvGrpSpPr>
        <p:grpSpPr>
          <a:xfrm>
            <a:off x="1111547" y="4495008"/>
            <a:ext cx="4198025" cy="737099"/>
            <a:chOff x="0" y="2537591"/>
            <a:chExt cx="4198025" cy="737099"/>
          </a:xfrm>
        </p:grpSpPr>
        <p:sp>
          <p:nvSpPr>
            <p:cNvPr id="722" name="Google Shape;722;p24"/>
            <p:cNvSpPr/>
            <p:nvPr/>
          </p:nvSpPr>
          <p:spPr>
            <a:xfrm>
              <a:off x="0" y="2537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3E8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4"/>
            <p:cNvSpPr txBox="1"/>
            <p:nvPr/>
          </p:nvSpPr>
          <p:spPr>
            <a:xfrm>
              <a:off x="35982" y="2573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Tesla - </a:t>
              </a:r>
              <a:r>
                <a:rPr lang="en-US" sz="24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Autopilot</a:t>
              </a:r>
              <a:endParaRPr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24"/>
          <p:cNvGrpSpPr/>
          <p:nvPr/>
        </p:nvGrpSpPr>
        <p:grpSpPr>
          <a:xfrm>
            <a:off x="1111547" y="5346088"/>
            <a:ext cx="4198025" cy="737099"/>
            <a:chOff x="0" y="3361091"/>
            <a:chExt cx="4198025" cy="737099"/>
          </a:xfrm>
        </p:grpSpPr>
        <p:sp>
          <p:nvSpPr>
            <p:cNvPr id="725" name="Google Shape;725;p24"/>
            <p:cNvSpPr/>
            <p:nvPr/>
          </p:nvSpPr>
          <p:spPr>
            <a:xfrm>
              <a:off x="0" y="3361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18692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4"/>
            <p:cNvSpPr txBox="1"/>
            <p:nvPr/>
          </p:nvSpPr>
          <p:spPr>
            <a:xfrm>
              <a:off x="35982" y="3397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Microsoft – 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Azure, Cortana</a:t>
              </a:r>
              <a:endParaRPr/>
            </a:p>
          </p:txBody>
        </p:sp>
      </p:grpSp>
      <p:grpSp>
        <p:nvGrpSpPr>
          <p:cNvPr id="727" name="Google Shape;727;p24"/>
          <p:cNvGrpSpPr/>
          <p:nvPr/>
        </p:nvGrpSpPr>
        <p:grpSpPr>
          <a:xfrm>
            <a:off x="6164470" y="1941765"/>
            <a:ext cx="4198025" cy="737099"/>
            <a:chOff x="0" y="67091"/>
            <a:chExt cx="4198025" cy="737099"/>
          </a:xfrm>
        </p:grpSpPr>
        <p:sp>
          <p:nvSpPr>
            <p:cNvPr id="728" name="Google Shape;728;p24"/>
            <p:cNvSpPr/>
            <p:nvPr/>
          </p:nvSpPr>
          <p:spPr>
            <a:xfrm>
              <a:off x="0" y="67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24"/>
            <p:cNvSpPr txBox="1"/>
            <p:nvPr/>
          </p:nvSpPr>
          <p:spPr>
            <a:xfrm>
              <a:off x="35982" y="103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OpenAI - 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ChatGPT</a:t>
              </a: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0" name="Google Shape;730;p24"/>
          <p:cNvGrpSpPr/>
          <p:nvPr/>
        </p:nvGrpSpPr>
        <p:grpSpPr>
          <a:xfrm>
            <a:off x="6164470" y="2792846"/>
            <a:ext cx="4198025" cy="737099"/>
            <a:chOff x="0" y="890591"/>
            <a:chExt cx="4198025" cy="737099"/>
          </a:xfrm>
        </p:grpSpPr>
        <p:sp>
          <p:nvSpPr>
            <p:cNvPr id="731" name="Google Shape;731;p24"/>
            <p:cNvSpPr/>
            <p:nvPr/>
          </p:nvSpPr>
          <p:spPr>
            <a:xfrm>
              <a:off x="0" y="890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D5AE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4"/>
            <p:cNvSpPr txBox="1"/>
            <p:nvPr/>
          </p:nvSpPr>
          <p:spPr>
            <a:xfrm>
              <a:off x="35982" y="926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Apple – 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Face ID, Siri</a:t>
              </a: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3" name="Google Shape;733;p24"/>
          <p:cNvGrpSpPr/>
          <p:nvPr/>
        </p:nvGrpSpPr>
        <p:grpSpPr>
          <a:xfrm>
            <a:off x="6164470" y="3643927"/>
            <a:ext cx="4198025" cy="737099"/>
            <a:chOff x="0" y="1714091"/>
            <a:chExt cx="4198025" cy="737099"/>
          </a:xfrm>
        </p:grpSpPr>
        <p:sp>
          <p:nvSpPr>
            <p:cNvPr id="734" name="Google Shape;734;p24"/>
            <p:cNvSpPr/>
            <p:nvPr/>
          </p:nvSpPr>
          <p:spPr>
            <a:xfrm>
              <a:off x="0" y="1714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8CAF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4"/>
            <p:cNvSpPr txBox="1"/>
            <p:nvPr/>
          </p:nvSpPr>
          <p:spPr>
            <a:xfrm>
              <a:off x="35982" y="1750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LinkedIn – </a:t>
              </a: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Job Recommendation</a:t>
              </a:r>
              <a:endParaRPr/>
            </a:p>
          </p:txBody>
        </p:sp>
      </p:grpSp>
      <p:grpSp>
        <p:nvGrpSpPr>
          <p:cNvPr id="736" name="Google Shape;736;p24"/>
          <p:cNvGrpSpPr/>
          <p:nvPr/>
        </p:nvGrpSpPr>
        <p:grpSpPr>
          <a:xfrm>
            <a:off x="6164470" y="4495008"/>
            <a:ext cx="4198025" cy="737099"/>
            <a:chOff x="0" y="2537591"/>
            <a:chExt cx="4198025" cy="737099"/>
          </a:xfrm>
        </p:grpSpPr>
        <p:sp>
          <p:nvSpPr>
            <p:cNvPr id="737" name="Google Shape;737;p24"/>
            <p:cNvSpPr/>
            <p:nvPr/>
          </p:nvSpPr>
          <p:spPr>
            <a:xfrm>
              <a:off x="0" y="2537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3E8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24"/>
            <p:cNvSpPr txBox="1"/>
            <p:nvPr/>
          </p:nvSpPr>
          <p:spPr>
            <a:xfrm>
              <a:off x="35982" y="2573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Alibaba – 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Alibaba AI</a:t>
              </a: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5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Data Science &amp; Analytics</a:t>
            </a:r>
            <a:endParaRPr sz="3600" dirty="0">
              <a:solidFill>
                <a:srgbClr val="FBBB09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grpSp>
        <p:nvGrpSpPr>
          <p:cNvPr id="745" name="Google Shape;745;p25"/>
          <p:cNvGrpSpPr/>
          <p:nvPr/>
        </p:nvGrpSpPr>
        <p:grpSpPr>
          <a:xfrm>
            <a:off x="1111547" y="1941765"/>
            <a:ext cx="4198025" cy="737099"/>
            <a:chOff x="0" y="67091"/>
            <a:chExt cx="4198025" cy="737099"/>
          </a:xfrm>
        </p:grpSpPr>
        <p:sp>
          <p:nvSpPr>
            <p:cNvPr id="746" name="Google Shape;746;p25"/>
            <p:cNvSpPr/>
            <p:nvPr/>
          </p:nvSpPr>
          <p:spPr>
            <a:xfrm>
              <a:off x="0" y="67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5"/>
            <p:cNvSpPr txBox="1"/>
            <p:nvPr/>
          </p:nvSpPr>
          <p:spPr>
            <a:xfrm>
              <a:off x="35982" y="103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Netflix</a:t>
              </a:r>
              <a:endParaRPr/>
            </a:p>
          </p:txBody>
        </p:sp>
      </p:grpSp>
      <p:grpSp>
        <p:nvGrpSpPr>
          <p:cNvPr id="748" name="Google Shape;748;p25"/>
          <p:cNvGrpSpPr/>
          <p:nvPr/>
        </p:nvGrpSpPr>
        <p:grpSpPr>
          <a:xfrm>
            <a:off x="1111547" y="2792846"/>
            <a:ext cx="4198025" cy="737099"/>
            <a:chOff x="0" y="890591"/>
            <a:chExt cx="4198025" cy="737099"/>
          </a:xfrm>
        </p:grpSpPr>
        <p:sp>
          <p:nvSpPr>
            <p:cNvPr id="749" name="Google Shape;749;p25"/>
            <p:cNvSpPr/>
            <p:nvPr/>
          </p:nvSpPr>
          <p:spPr>
            <a:xfrm>
              <a:off x="0" y="890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D5AE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5"/>
            <p:cNvSpPr txBox="1"/>
            <p:nvPr/>
          </p:nvSpPr>
          <p:spPr>
            <a:xfrm>
              <a:off x="35982" y="926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Spotify</a:t>
              </a:r>
              <a:endParaRPr/>
            </a:p>
          </p:txBody>
        </p:sp>
      </p:grpSp>
      <p:grpSp>
        <p:nvGrpSpPr>
          <p:cNvPr id="751" name="Google Shape;751;p25"/>
          <p:cNvGrpSpPr/>
          <p:nvPr/>
        </p:nvGrpSpPr>
        <p:grpSpPr>
          <a:xfrm>
            <a:off x="1111547" y="3643927"/>
            <a:ext cx="4198025" cy="737099"/>
            <a:chOff x="0" y="1714091"/>
            <a:chExt cx="4198025" cy="737099"/>
          </a:xfrm>
        </p:grpSpPr>
        <p:sp>
          <p:nvSpPr>
            <p:cNvPr id="752" name="Google Shape;752;p25"/>
            <p:cNvSpPr/>
            <p:nvPr/>
          </p:nvSpPr>
          <p:spPr>
            <a:xfrm>
              <a:off x="0" y="1714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8CAF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5"/>
            <p:cNvSpPr txBox="1"/>
            <p:nvPr/>
          </p:nvSpPr>
          <p:spPr>
            <a:xfrm>
              <a:off x="35982" y="1750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Google</a:t>
              </a:r>
              <a:endParaRPr/>
            </a:p>
          </p:txBody>
        </p:sp>
      </p:grpSp>
      <p:grpSp>
        <p:nvGrpSpPr>
          <p:cNvPr id="754" name="Google Shape;754;p25"/>
          <p:cNvGrpSpPr/>
          <p:nvPr/>
        </p:nvGrpSpPr>
        <p:grpSpPr>
          <a:xfrm>
            <a:off x="1111547" y="4495008"/>
            <a:ext cx="4198025" cy="737099"/>
            <a:chOff x="0" y="2537591"/>
            <a:chExt cx="4198025" cy="737099"/>
          </a:xfrm>
        </p:grpSpPr>
        <p:sp>
          <p:nvSpPr>
            <p:cNvPr id="755" name="Google Shape;755;p25"/>
            <p:cNvSpPr/>
            <p:nvPr/>
          </p:nvSpPr>
          <p:spPr>
            <a:xfrm>
              <a:off x="0" y="2537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3E8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5"/>
            <p:cNvSpPr txBox="1"/>
            <p:nvPr/>
          </p:nvSpPr>
          <p:spPr>
            <a:xfrm>
              <a:off x="35982" y="2573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Facebook</a:t>
              </a:r>
              <a:endParaRPr/>
            </a:p>
          </p:txBody>
        </p:sp>
      </p:grpSp>
      <p:grpSp>
        <p:nvGrpSpPr>
          <p:cNvPr id="757" name="Google Shape;757;p25"/>
          <p:cNvGrpSpPr/>
          <p:nvPr/>
        </p:nvGrpSpPr>
        <p:grpSpPr>
          <a:xfrm>
            <a:off x="1111547" y="5346088"/>
            <a:ext cx="4198025" cy="737099"/>
            <a:chOff x="0" y="3361091"/>
            <a:chExt cx="4198025" cy="737099"/>
          </a:xfrm>
        </p:grpSpPr>
        <p:sp>
          <p:nvSpPr>
            <p:cNvPr id="758" name="Google Shape;758;p25"/>
            <p:cNvSpPr/>
            <p:nvPr/>
          </p:nvSpPr>
          <p:spPr>
            <a:xfrm>
              <a:off x="0" y="3361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18692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5"/>
            <p:cNvSpPr txBox="1"/>
            <p:nvPr/>
          </p:nvSpPr>
          <p:spPr>
            <a:xfrm>
              <a:off x="35982" y="3397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NASA</a:t>
              </a:r>
              <a:endParaRPr/>
            </a:p>
          </p:txBody>
        </p:sp>
      </p:grpSp>
      <p:grpSp>
        <p:nvGrpSpPr>
          <p:cNvPr id="760" name="Google Shape;760;p25"/>
          <p:cNvGrpSpPr/>
          <p:nvPr/>
        </p:nvGrpSpPr>
        <p:grpSpPr>
          <a:xfrm>
            <a:off x="6164470" y="1941765"/>
            <a:ext cx="4198025" cy="737099"/>
            <a:chOff x="0" y="67091"/>
            <a:chExt cx="4198025" cy="737099"/>
          </a:xfrm>
        </p:grpSpPr>
        <p:sp>
          <p:nvSpPr>
            <p:cNvPr id="761" name="Google Shape;761;p25"/>
            <p:cNvSpPr/>
            <p:nvPr/>
          </p:nvSpPr>
          <p:spPr>
            <a:xfrm>
              <a:off x="0" y="67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D86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5"/>
            <p:cNvSpPr txBox="1"/>
            <p:nvPr/>
          </p:nvSpPr>
          <p:spPr>
            <a:xfrm>
              <a:off x="35982" y="103073"/>
              <a:ext cx="4126061" cy="665135"/>
            </a:xfrm>
            <a:prstGeom prst="rect">
              <a:avLst/>
            </a:prstGeom>
            <a:solidFill>
              <a:srgbClr val="D86CCC"/>
            </a:solidFill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Airbnb</a:t>
              </a:r>
              <a:endParaRPr/>
            </a:p>
          </p:txBody>
        </p:sp>
      </p:grpSp>
      <p:grpSp>
        <p:nvGrpSpPr>
          <p:cNvPr id="763" name="Google Shape;763;p25"/>
          <p:cNvGrpSpPr/>
          <p:nvPr/>
        </p:nvGrpSpPr>
        <p:grpSpPr>
          <a:xfrm>
            <a:off x="6164470" y="2792846"/>
            <a:ext cx="4198025" cy="737099"/>
            <a:chOff x="0" y="890591"/>
            <a:chExt cx="4198025" cy="737099"/>
          </a:xfrm>
        </p:grpSpPr>
        <p:sp>
          <p:nvSpPr>
            <p:cNvPr id="764" name="Google Shape;764;p25"/>
            <p:cNvSpPr/>
            <p:nvPr/>
          </p:nvSpPr>
          <p:spPr>
            <a:xfrm>
              <a:off x="0" y="890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78206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5"/>
            <p:cNvSpPr txBox="1"/>
            <p:nvPr/>
          </p:nvSpPr>
          <p:spPr>
            <a:xfrm>
              <a:off x="35982" y="926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Uber</a:t>
              </a:r>
              <a:endParaRPr/>
            </a:p>
          </p:txBody>
        </p:sp>
      </p:grpSp>
      <p:grpSp>
        <p:nvGrpSpPr>
          <p:cNvPr id="766" name="Google Shape;766;p25"/>
          <p:cNvGrpSpPr/>
          <p:nvPr/>
        </p:nvGrpSpPr>
        <p:grpSpPr>
          <a:xfrm>
            <a:off x="6164470" y="3643927"/>
            <a:ext cx="4198025" cy="737099"/>
            <a:chOff x="0" y="1714091"/>
            <a:chExt cx="4198025" cy="737099"/>
          </a:xfrm>
        </p:grpSpPr>
        <p:sp>
          <p:nvSpPr>
            <p:cNvPr id="767" name="Google Shape;767;p25"/>
            <p:cNvSpPr/>
            <p:nvPr/>
          </p:nvSpPr>
          <p:spPr>
            <a:xfrm>
              <a:off x="0" y="17140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50154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5"/>
            <p:cNvSpPr txBox="1"/>
            <p:nvPr/>
          </p:nvSpPr>
          <p:spPr>
            <a:xfrm>
              <a:off x="35982" y="17500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Amazon</a:t>
              </a:r>
              <a:endParaRPr/>
            </a:p>
          </p:txBody>
        </p:sp>
      </p:grpSp>
      <p:grpSp>
        <p:nvGrpSpPr>
          <p:cNvPr id="769" name="Google Shape;769;p25"/>
          <p:cNvGrpSpPr/>
          <p:nvPr/>
        </p:nvGrpSpPr>
        <p:grpSpPr>
          <a:xfrm>
            <a:off x="6164470" y="4495008"/>
            <a:ext cx="4198025" cy="737099"/>
            <a:chOff x="0" y="2537591"/>
            <a:chExt cx="4198025" cy="737099"/>
          </a:xfrm>
        </p:grpSpPr>
        <p:sp>
          <p:nvSpPr>
            <p:cNvPr id="770" name="Google Shape;770;p25"/>
            <p:cNvSpPr/>
            <p:nvPr/>
          </p:nvSpPr>
          <p:spPr>
            <a:xfrm>
              <a:off x="0" y="2537591"/>
              <a:ext cx="4198025" cy="737099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5"/>
            <p:cNvSpPr txBox="1"/>
            <p:nvPr/>
          </p:nvSpPr>
          <p:spPr>
            <a:xfrm>
              <a:off x="35982" y="2573573"/>
              <a:ext cx="4126061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Dropbox</a:t>
              </a:r>
              <a:endParaRPr/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6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6600"/>
              <a:buFont typeface="Arial"/>
              <a:buNone/>
            </a:pPr>
            <a:r>
              <a:rPr lang="en-US" sz="660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““Thanks All””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345</Words>
  <Application>Microsoft Office PowerPoint</Application>
  <PresentationFormat>Custom</PresentationFormat>
  <Paragraphs>124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Aptos</vt:lpstr>
      <vt:lpstr>Arial Black</vt:lpstr>
      <vt:lpstr>Play</vt:lpstr>
      <vt:lpstr>Office Theme</vt:lpstr>
      <vt:lpstr>“On the way with Python”</vt:lpstr>
      <vt:lpstr>Start with Python</vt:lpstr>
      <vt:lpstr>PowerPoint Presentation</vt:lpstr>
      <vt:lpstr>PowerPoint Presentation</vt:lpstr>
      <vt:lpstr>What is Python?</vt:lpstr>
      <vt:lpstr>Evolution of Python</vt:lpstr>
      <vt:lpstr>PowerPoint Presentation</vt:lpstr>
      <vt:lpstr>Why Python?</vt:lpstr>
      <vt:lpstr>PowerPoint Presentation</vt:lpstr>
      <vt:lpstr>Career Opportunities of Python</vt:lpstr>
      <vt:lpstr>“Sector-wise Topics Specification”</vt:lpstr>
      <vt:lpstr>Python for Web Development</vt:lpstr>
      <vt:lpstr>Python for Game Development</vt:lpstr>
      <vt:lpstr>Python for Desktop Application</vt:lpstr>
      <vt:lpstr>Python for Data Science &amp; Analytics</vt:lpstr>
      <vt:lpstr>Python for AI &amp; ML</vt:lpstr>
      <vt:lpstr>Python for IoT &amp; Robotics</vt:lpstr>
      <vt:lpstr>PowerPoint Presentation</vt:lpstr>
      <vt:lpstr>“Let’s Know about Python😎”</vt:lpstr>
      <vt:lpstr>PowerPoint Presentation</vt:lpstr>
      <vt:lpstr>PowerPoint Presentation</vt:lpstr>
      <vt:lpstr>PowerPoint Presentation</vt:lpstr>
      <vt:lpstr>Web Development</vt:lpstr>
      <vt:lpstr>Game Development</vt:lpstr>
      <vt:lpstr>Machine Learning &amp; AI</vt:lpstr>
      <vt:lpstr>Data Science &amp; Analytics</vt:lpstr>
      <vt:lpstr>““Thanks All””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“On the way with Python”</dc:title>
  <dc:creator>MD SHAKIL</dc:creator>
  <cp:lastModifiedBy>Reaz</cp:lastModifiedBy>
  <cp:revision>28</cp:revision>
  <dcterms:created xsi:type="dcterms:W3CDTF">2024-08-22T18:44:27Z</dcterms:created>
  <dcterms:modified xsi:type="dcterms:W3CDTF">2026-04-22T03:29:08Z</dcterms:modified>
</cp:coreProperties>
</file>