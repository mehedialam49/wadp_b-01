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9" r:id="rId2"/>
    <p:sldId id="368" r:id="rId3"/>
    <p:sldId id="367" r:id="rId4"/>
    <p:sldId id="351" r:id="rId5"/>
    <p:sldId id="369" r:id="rId6"/>
    <p:sldId id="370" r:id="rId7"/>
    <p:sldId id="371" r:id="rId8"/>
    <p:sldId id="372" r:id="rId9"/>
    <p:sldId id="373" r:id="rId10"/>
    <p:sldId id="3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00000"/>
    <a:srgbClr val="F06C2C"/>
    <a:srgbClr val="FBBB09"/>
    <a:srgbClr val="F1CC4D"/>
    <a:srgbClr val="035160"/>
    <a:srgbClr val="FFC413"/>
    <a:srgbClr val="A6CFC0"/>
    <a:srgbClr val="96C6B5"/>
    <a:srgbClr val="E6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2" autoAdjust="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413C-5640-4591-8597-7AD8B522C11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5C77-B9A4-49A2-9319-63F104159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8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EB1A2-1F48-04FA-8223-19602416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FAD7F-5F51-397C-2867-796A5F09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96631-CAF9-46A3-A801-A08A21919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D2FAA-BB86-5BC7-BF12-6B7CB3EF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33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010C-EF1E-FB89-A165-0CFF0310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B882B-ECA3-52ED-06F6-4F6CDC89A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C1491-1C0A-EBE6-2D7B-0FAD7093D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8D3F5-3BBE-85F2-1ADC-2FCCBED34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01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1E7B-8F0F-5DE2-50F0-EAE9FE06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F334D-CDFC-ED7A-5356-571A3F829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1C212-A401-1040-EF8A-454B51655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890FE-027D-2D59-B185-9AC67625A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8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1EBC3-55B0-A049-9681-5F0E4EF9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96F96-1620-8560-8696-479B7F6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91526-148C-0CAE-922A-F2B52F1F1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6FF41-2048-43B5-D3CB-ACD4EE116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21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1DE3-9692-3956-4CA1-653089E1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1FE17-0D1C-93F9-2163-4606C0E7A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512A5-A7CF-3AA2-B0A6-6FE0E5F8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F6944-EDB2-C442-269D-A6B101DB7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0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45B8-F4F9-3CD5-A89D-0D0B8EA9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55564-5A7E-F898-C9CF-84431A114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482B3-2DD0-0738-F8D3-8E8D62936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30187-AF8E-BE4E-D9A3-BB69AE90B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5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54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920815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328409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34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3496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FC48E4-526E-5AA8-9063-C3C53F66B11D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31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55AE037-307C-43CB-509A-1F04F35A27D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86F0732-8C92-50E8-89E7-B4560E098B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05DA643-1D33-85CD-0B24-588715F478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074E181-92B6-34AA-00AB-C546432B509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8D2EC3B-BE31-9CA0-D7CA-D98000EDFC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ECE8B94-7432-0F97-B1DE-D597B0E29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3593981" y="5667375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97E498-B404-F0D7-710D-A8CD4771A69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E2D0145-EC93-D150-8EFC-A3D8C3F4F5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A6DC107-7FCE-B767-2477-E6478CE2662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F5B8F29-B3E4-8CE0-7A82-640677705D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8A5107B-2F86-CF04-2EBE-1DDD9AEF89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3C87772-2447-0DE2-A78C-C3FD2A41A1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267072" y="211228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6A7A5FD-94FB-CCA2-799E-615F863942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FE10F7A-4484-5527-C538-83542C9096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9772FAE-66C6-2CB6-8195-DAF6FD39330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7D3E21B-56E4-0D64-A07B-D6F4FB97A0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B126CE-8B1F-EC26-8B9F-2128AEB2F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6B5CE0-F3B2-3645-E740-2234C86201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FB89EC3-9DF1-A1E4-BEA2-36B1DF87EE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id="{AFC39FE0-99F6-CC7E-B041-EC521B1BF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655" y="5831621"/>
            <a:ext cx="640080" cy="63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9BC8F41-9136-3ED4-4F03-CF175CCAF15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A1D6C1-4927-89A7-B434-47814B8B1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906518-0E81-A82C-A4FE-D0AFAFF5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4B67E23-C6E6-355A-CCE3-E7EAB68EFF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B297A53-70DA-A52B-2748-3024E24D9B08}"/>
              </a:ext>
            </a:extLst>
          </p:cNvPr>
          <p:cNvGrpSpPr/>
          <p:nvPr userDrawn="1"/>
        </p:nvGrpSpPr>
        <p:grpSpPr>
          <a:xfrm>
            <a:off x="0" y="1792513"/>
            <a:ext cx="3675742" cy="3323772"/>
            <a:chOff x="0" y="1979288"/>
            <a:chExt cx="3675742" cy="3323772"/>
          </a:xfrm>
          <a:solidFill>
            <a:srgbClr val="A6CFC0"/>
          </a:solidFill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1191BAE-7C5B-0A80-6F2D-D0190D18E234}"/>
                </a:ext>
              </a:extLst>
            </p:cNvPr>
            <p:cNvSpPr/>
            <p:nvPr userDrawn="1"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224FF31A-CFCE-BDA2-29CB-B2CEBAB251BD}"/>
                </a:ext>
              </a:extLst>
            </p:cNvPr>
            <p:cNvSpPr/>
            <p:nvPr userDrawn="1"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78F709-B334-E3FB-9A69-18FE7DB7BFFB}"/>
                </a:ext>
              </a:extLst>
            </p:cNvPr>
            <p:cNvSpPr/>
            <p:nvPr userDrawn="1"/>
          </p:nvSpPr>
          <p:spPr>
            <a:xfrm>
              <a:off x="0" y="1980649"/>
              <a:ext cx="1866900" cy="3321050"/>
            </a:xfrm>
            <a:custGeom>
              <a:avLst/>
              <a:gdLst>
                <a:gd name="connsiteX0" fmla="*/ 1866900 w 1866900"/>
                <a:gd name="connsiteY0" fmla="*/ 0 h 3321050"/>
                <a:gd name="connsiteX1" fmla="*/ 0 w 1866900"/>
                <a:gd name="connsiteY1" fmla="*/ 0 h 3321050"/>
                <a:gd name="connsiteX2" fmla="*/ 0 w 1866900"/>
                <a:gd name="connsiteY2" fmla="*/ 3321050 h 3321050"/>
                <a:gd name="connsiteX3" fmla="*/ 679450 w 1866900"/>
                <a:gd name="connsiteY3" fmla="*/ 3321050 h 3321050"/>
                <a:gd name="connsiteX4" fmla="*/ 1866900 w 1866900"/>
                <a:gd name="connsiteY4" fmla="*/ 0 h 33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900" h="332105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2C77FF52-AB64-FDC4-6CAA-13D96BA5000A}"/>
              </a:ext>
            </a:extLst>
          </p:cNvPr>
          <p:cNvSpPr txBox="1">
            <a:spLocks/>
          </p:cNvSpPr>
          <p:nvPr userDrawn="1"/>
        </p:nvSpPr>
        <p:spPr>
          <a:xfrm>
            <a:off x="3796619" y="2814220"/>
            <a:ext cx="1054781" cy="12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732328-9BBF-CD0F-62A7-D6860919765C}"/>
              </a:ext>
            </a:extLst>
          </p:cNvPr>
          <p:cNvCxnSpPr>
            <a:cxnSpLocks/>
          </p:cNvCxnSpPr>
          <p:nvPr userDrawn="1"/>
        </p:nvCxnSpPr>
        <p:spPr>
          <a:xfrm>
            <a:off x="4900749" y="2538088"/>
            <a:ext cx="0" cy="2206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36E7069-684C-8493-BFEA-9D15BC1B6A8E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pic>
        <p:nvPicPr>
          <p:cNvPr id="8" name="Picture 2" descr="Django Icon #266158 - Free Icons Library">
            <a:extLst>
              <a:ext uri="{FF2B5EF4-FFF2-40B4-BE49-F238E27FC236}">
                <a16:creationId xmlns:a16="http://schemas.microsoft.com/office/drawing/2014/main" id="{F2FE81B2-E2DA-5EB4-FEEE-FA6D844A24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3918" r="4003" b="4265"/>
          <a:stretch/>
        </p:blipFill>
        <p:spPr bwMode="auto">
          <a:xfrm>
            <a:off x="10034700" y="5810245"/>
            <a:ext cx="64164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4358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50" y="249255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558EE7-0CF1-9467-246A-2C3A51ABD424}"/>
              </a:ext>
            </a:extLst>
          </p:cNvPr>
          <p:cNvGrpSpPr/>
          <p:nvPr userDrawn="1"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6" name="Picture 4" descr="Python Logo PNG Transparent – Brands Logos">
              <a:extLst>
                <a:ext uri="{FF2B5EF4-FFF2-40B4-BE49-F238E27FC236}">
                  <a16:creationId xmlns:a16="http://schemas.microsoft.com/office/drawing/2014/main" id="{3565F116-F5D7-8AE7-A33E-8892A0E888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3CB80A5A-F99E-BC76-9B24-B032E23C61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9654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81EAA2F-43B5-229C-68B5-4BF4208823A0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22FC2B-89C1-F942-02D5-73110BC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557E2-91DC-FE2D-645F-1D1D8F5081F7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434691-82AE-A904-624D-9000705A3A1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id="{39A5E333-7A6B-9A27-1A7F-83FF92CA04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id="{E58272E9-1418-3D08-C47B-91F7F87784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3C060DF-9207-CA53-290F-94959ABE3A16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4E75D9B7-F70F-8C2C-2D1E-50D1E0C00FED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476BFF34-9624-6603-EF6B-16AF8CA6A251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1013F-46A0-DD79-A0FC-C45C72240DFD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D39E99-EE27-69BF-D006-D581D562CD09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9" name="Picture 4" descr="Python Logo PNG Transparent – Brands Logos">
              <a:extLst>
                <a:ext uri="{FF2B5EF4-FFF2-40B4-BE49-F238E27FC236}">
                  <a16:creationId xmlns:a16="http://schemas.microsoft.com/office/drawing/2014/main" id="{8ACF82FD-8A11-E4EC-D9C0-EC8BB42CF9E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jango Icon #266158 - Free Icons Library">
              <a:extLst>
                <a:ext uri="{FF2B5EF4-FFF2-40B4-BE49-F238E27FC236}">
                  <a16:creationId xmlns:a16="http://schemas.microsoft.com/office/drawing/2014/main" id="{42B3E75A-034B-CCE1-D0D8-78A3402CB2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464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1422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BBBC04F9-E5ED-26D6-F533-0DE2F3E8CA28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35715C5E-117B-BAA0-01F3-528A3988DF29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57D36-C12D-AB8A-2A79-630665325988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16E93B-1153-C86F-6014-F4E9EE71689B}"/>
              </a:ext>
            </a:extLst>
          </p:cNvPr>
          <p:cNvGrpSpPr/>
          <p:nvPr userDrawn="1"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id="{72ECC214-95A5-3148-3D29-AC2BD22DF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id="{C29E2FA2-02D6-7F7D-8D65-F7575CED2B0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60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9CDC3B5-6EEE-B79F-8548-68D670904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881595"/>
            <a:ext cx="10342562" cy="4378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C3141-72F6-054A-9AFF-844455B07A01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81B035-E549-F297-849C-B6FC83FDB32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id="{0AF32D02-D081-47DA-370B-D63AB40CF4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id="{EC1D3776-5CB7-01BB-F0B6-892538BADA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981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ython White Icons – Free Download SVG, PNG, GIF">
            <a:extLst>
              <a:ext uri="{FF2B5EF4-FFF2-40B4-BE49-F238E27FC236}">
                <a16:creationId xmlns:a16="http://schemas.microsoft.com/office/drawing/2014/main" id="{D81086BF-9E35-8DD0-3C0A-2928A6196E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FE9C4-3ED0-F6A0-DFBC-B5DD154906E5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703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Title 1">
            <a:extLst>
              <a:ext uri="{FF2B5EF4-FFF2-40B4-BE49-F238E27FC236}">
                <a16:creationId xmlns:a16="http://schemas.microsoft.com/office/drawing/2014/main" id="{6C633B9D-B37F-97F4-6A52-F6EA3B37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07" name="Picture 2" descr="Python White Icons – Free Download SVG, PNG, GIF">
            <a:extLst>
              <a:ext uri="{FF2B5EF4-FFF2-40B4-BE49-F238E27FC236}">
                <a16:creationId xmlns:a16="http://schemas.microsoft.com/office/drawing/2014/main" id="{867E8C5D-9FAF-E736-C430-2F4420844A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3">
            <a:extLst>
              <a:ext uri="{FF2B5EF4-FFF2-40B4-BE49-F238E27FC236}">
                <a16:creationId xmlns:a16="http://schemas.microsoft.com/office/drawing/2014/main" id="{A0C0FF61-BA02-A07E-43E7-12E08C4D7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EE5523-3DF7-C52D-B9E7-7CECA7171CC2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482538-0C55-0286-AC8C-2C59BE5FCF5B}"/>
              </a:ext>
            </a:extLst>
          </p:cNvPr>
          <p:cNvGrpSpPr/>
          <p:nvPr userDrawn="1"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id="{F9B12832-F48B-C37A-A8B5-B4CDAE58CC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id="{7E2BD80E-3746-D447-50F8-8A96C7CE8D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069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2C32D4-3F74-640D-5B68-9755E8B50157}"/>
              </a:ext>
            </a:extLst>
          </p:cNvPr>
          <p:cNvSpPr/>
          <p:nvPr userDrawn="1"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57D90B-B80A-49A4-58A3-8E78D021AD4A}"/>
              </a:ext>
            </a:extLst>
          </p:cNvPr>
          <p:cNvGrpSpPr/>
          <p:nvPr userDrawn="1"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id="{BD0BBBCE-1C2F-3BDB-C918-7E6617A2076B}"/>
                </a:ext>
              </a:extLst>
            </p:cNvPr>
            <p:cNvSpPr/>
            <p:nvPr userDrawn="1"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id="{F3261EAC-1234-2D53-1B26-109E1CE991D7}"/>
                </a:ext>
              </a:extLst>
            </p:cNvPr>
            <p:cNvSpPr/>
            <p:nvPr userDrawn="1"/>
          </p:nvSpPr>
          <p:spPr>
            <a:xfrm rot="162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35160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2B85B7-B329-8D3F-43E8-5E9CE0A828F4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C9C6D0-9B61-EBD0-5004-57EC29C77219}"/>
              </a:ext>
            </a:extLst>
          </p:cNvPr>
          <p:cNvGrpSpPr/>
          <p:nvPr userDrawn="1"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5" name="Picture 4" descr="Python Logo PNG Transparent – Brands Logos">
              <a:extLst>
                <a:ext uri="{FF2B5EF4-FFF2-40B4-BE49-F238E27FC236}">
                  <a16:creationId xmlns:a16="http://schemas.microsoft.com/office/drawing/2014/main" id="{2BAE9887-0D78-655E-752E-8F172AB01E0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Django Icon #266158 - Free Icons Library">
              <a:extLst>
                <a:ext uri="{FF2B5EF4-FFF2-40B4-BE49-F238E27FC236}">
                  <a16:creationId xmlns:a16="http://schemas.microsoft.com/office/drawing/2014/main" id="{98EEAA7F-4CAC-E7E6-4F14-DDE83FC09C1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303509"/>
              <a:ext cx="458318" cy="457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03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5CB0-F855-0DE4-09BB-2AC7998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2E1B-B2DB-4B0C-86FF-4E50C6945317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0BBE1-04E9-C8D3-9736-DC8B152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104F5-2BB3-3388-9F58-9445C12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19"/>
      </p:ext>
    </p:extLst>
  </p:cSld>
  <p:clrMapOvr>
    <a:masterClrMapping/>
  </p:clrMapOvr>
  <p:transition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C3EF-AB55-7F58-F83D-2B639936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BF87-5769-4D33-B480-897940684496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BFD88-D54C-8454-2C07-C67D7A42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A11CC-2953-5BCB-6C37-C728ECF8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15A3681-FB8C-0718-74C8-1947D9386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4394391-CBE7-9C2A-6BD8-08DA8FB3B9C3}"/>
              </a:ext>
            </a:extLst>
          </p:cNvPr>
          <p:cNvGrpSpPr/>
          <p:nvPr userDrawn="1"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C731176-2BC8-D1F8-EE64-429B982D7D31}"/>
                </a:ext>
              </a:extLst>
            </p:cNvPr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/>
            </a:prstGeom>
            <a:solidFill>
              <a:srgbClr val="A6C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12947A3-33B6-269D-3C3C-D19E900AE101}"/>
                </a:ext>
              </a:extLst>
            </p:cNvPr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/>
            </a:prstGeom>
            <a:solidFill>
              <a:srgbClr val="004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B55A2E-2BCB-21EB-4569-A99BAFE6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5670892"/>
      </p:ext>
    </p:extLst>
  </p:cSld>
  <p:clrMapOvr>
    <a:masterClrMapping/>
  </p:clrMapOvr>
  <p:transition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57E0-4DC2-9902-73FB-F02D6DBA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6C365-DB49-BE1F-7276-4B5579D4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71670-2B75-FACA-683C-216346F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E6D2-49E5-4F1D-A14A-A9A51A506BD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0B091-63F7-01DA-70F8-2CFD15C5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20B8CC6-0CC9-8C8F-5BDF-28C5DC0F72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48CF5A0-4195-9956-D5FB-61840047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2922"/>
      </p:ext>
    </p:extLst>
  </p:cSld>
  <p:clrMapOvr>
    <a:masterClrMapping/>
  </p:clrMapOvr>
  <p:transition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A1FD-D041-4FBF-7853-3105A615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AB20B-3D44-DFE9-BA91-FF12B43B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37040-D39E-332D-05FB-5571E15A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A3478-1E75-472C-A6FA-7C77731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F202-FE58-4F6C-B925-2FF390FEFFFC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A3740-AD57-CF1A-70ED-E3A79780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FD506-693B-4C58-145B-6A04B31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75"/>
      </p:ext>
    </p:extLst>
  </p:cSld>
  <p:clrMapOvr>
    <a:masterClrMapping/>
  </p:clrMapOvr>
  <p:transition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FC4B-A3A5-B86A-C83D-BD1F94F5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D69AA-FCF7-7EB0-1E5F-D21215EA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6551D-B22C-952B-6DEF-F45839E1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5BF80-C13F-44FC-6F98-9B1772A84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D7551-8D69-6A41-FAD4-C668B9FB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A2078-5F91-4832-8C99-80FE50D8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3BB-F484-42AE-B2FE-71CA8C3D3AE8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FFA32-C762-54A1-9ACF-221255D6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AAC9B-00A7-D2FF-D420-E190B53E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37360"/>
      </p:ext>
    </p:extLst>
  </p:cSld>
  <p:clrMapOvr>
    <a:masterClrMapping/>
  </p:clrMapOvr>
  <p:transition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2024-EE2E-FD2C-6981-079C561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AD1CF-E6DA-D3D9-24B9-5321D0DF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E82-7E02-4B69-8BEE-89686FFFEF81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B21F9-C17C-EB79-ECF1-4621F8A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C841-9A10-CBD0-F5AD-B863CBC9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7982"/>
      </p:ext>
    </p:extLst>
  </p:cSld>
  <p:clrMapOvr>
    <a:masterClrMapping/>
  </p:clrMapOvr>
  <p:transition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445728-5DD8-3378-B753-501D4D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B73F-9411-4A5C-B9ED-3B1ACF393399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08DBE-1ACF-C2F4-D763-95520307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DD9AD-B150-832E-4DB9-6BA4262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726"/>
      </p:ext>
    </p:extLst>
  </p:cSld>
  <p:clrMapOvr>
    <a:masterClrMapping/>
  </p:clrMapOvr>
  <p:transition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6F50-4B3A-4816-2439-09904BCD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2C52-FE2D-E27F-697E-70FB30F7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043DB-AC60-C48C-74E3-8112710C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946CB-972B-5565-882F-A259564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DD18-DEDD-4618-B8D3-89F7DEA7F796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10091-E94C-FD28-B41F-85DEA5F5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96339-E5D2-3B2F-31AF-1476E33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786"/>
      </p:ext>
    </p:extLst>
  </p:cSld>
  <p:clrMapOvr>
    <a:masterClrMapping/>
  </p:clrMapOvr>
  <p:transition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C14E-75AA-0C92-F220-3AAD7AD3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90DA2-C411-59D6-4C0C-908991AA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6445-67A7-9662-AE24-DB75D0A01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C8D6E-C325-CB08-913E-5D0CFA8D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9BB6-EC60-43E1-BA80-EB28A4ADF470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A266-80A2-77E9-30D1-7A8873A5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294D4-AA30-7B04-9372-313CB26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0358"/>
      </p:ext>
    </p:extLst>
  </p:cSld>
  <p:clrMapOvr>
    <a:masterClrMapping/>
  </p:clrMapOvr>
  <p:transition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90E4-01CE-88F6-103A-7A7829B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BC952-7B54-418C-1A42-DA6826C6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4519-AAED-AEF4-C105-9CCD0ED6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35B-11C8-4DDF-BE63-3629D94C0AEC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49751-5428-FBDE-66CC-224B9B50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1B834-F95C-7B3F-BCC0-A1A90E5B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219"/>
      </p:ext>
    </p:extLst>
  </p:cSld>
  <p:clrMapOvr>
    <a:masterClrMapping/>
  </p:clrMapOvr>
  <p:transition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66E50-E91E-2F9C-617D-B068AD410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3A187-132D-7091-45AC-0B12E101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5388-32BB-10B7-CCDD-C9904360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C14E-526E-4C34-BC74-238283BDC8DC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BE2B-8378-8CA5-5BFB-FC7894F4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5B319-EFC1-4DBC-9AD3-8A33D05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3644"/>
      </p:ext>
    </p:extLst>
  </p:cSld>
  <p:clrMapOvr>
    <a:masterClrMapping/>
  </p:clrMapOvr>
  <p:transition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F8A1DB90-F892-14D4-C6E2-A4B51EFAF446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397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0CB34-C072-54FF-FEA3-FFD66EC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0EAD7-AAAE-4D20-E56A-B4D7399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6877E-A696-A59F-0977-C6CFA1D9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F8224-04E3-4AA6-B0CA-4F042664FEC5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CB46-07B0-31F0-7E85-D42F5555B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33E34-F028-83E8-8DCF-305688484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661" r:id="rId6"/>
    <p:sldLayoutId id="2147483673" r:id="rId7"/>
    <p:sldLayoutId id="2147483674" r:id="rId8"/>
    <p:sldLayoutId id="2147483695" r:id="rId9"/>
    <p:sldLayoutId id="2147483691" r:id="rId10"/>
    <p:sldLayoutId id="2147483693" r:id="rId11"/>
    <p:sldLayoutId id="2147483692" r:id="rId12"/>
    <p:sldLayoutId id="2147483675" r:id="rId13"/>
    <p:sldLayoutId id="2147483689" r:id="rId14"/>
    <p:sldLayoutId id="2147483690" r:id="rId15"/>
    <p:sldLayoutId id="2147483676" r:id="rId16"/>
    <p:sldLayoutId id="2147483672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702" r:id="rId28"/>
  </p:sldLayoutIdLst>
  <p:transition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2846-B3A6-1187-EF8A-1389E0D36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“On the way with Python”</a:t>
            </a:r>
          </a:p>
        </p:txBody>
      </p:sp>
    </p:spTree>
    <p:extLst>
      <p:ext uri="{BB962C8B-B14F-4D97-AF65-F5344CB8AC3E}">
        <p14:creationId xmlns:p14="http://schemas.microsoft.com/office/powerpoint/2010/main" val="1371303958"/>
      </p:ext>
    </p:extLst>
  </p:cSld>
  <p:clrMapOvr>
    <a:masterClrMapping/>
  </p:clrMapOvr>
  <p:transition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2D1353-EC29-D173-4E49-A27864B5D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3306" y="1294718"/>
            <a:ext cx="7958880" cy="87481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MD. SHAKIL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0E8F5A-96F8-203D-40DE-60E100837EF4}"/>
              </a:ext>
            </a:extLst>
          </p:cNvPr>
          <p:cNvSpPr/>
          <p:nvPr/>
        </p:nvSpPr>
        <p:spPr>
          <a:xfrm>
            <a:off x="3633051" y="2076227"/>
            <a:ext cx="2220686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NSDA Certified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Trainer &amp; Assessor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B8425-45AE-E74E-DE79-5E3F83DDB9C1}"/>
              </a:ext>
            </a:extLst>
          </p:cNvPr>
          <p:cNvSpPr/>
          <p:nvPr/>
        </p:nvSpPr>
        <p:spPr>
          <a:xfrm>
            <a:off x="5993240" y="2076227"/>
            <a:ext cx="5586050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Vendor Certified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IT Specialist in Python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0B254-DAFC-93D4-6D46-77BAA5E9CE62}"/>
              </a:ext>
            </a:extLst>
          </p:cNvPr>
          <p:cNvSpPr/>
          <p:nvPr/>
        </p:nvSpPr>
        <p:spPr>
          <a:xfrm>
            <a:off x="3651711" y="3143046"/>
            <a:ext cx="3411561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Sr. Backend Developer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Ethical Den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5BCE71-0478-616A-0F45-CA8D237F4C1C}"/>
              </a:ext>
            </a:extLst>
          </p:cNvPr>
          <p:cNvSpPr/>
          <p:nvPr/>
        </p:nvSpPr>
        <p:spPr>
          <a:xfrm>
            <a:off x="7206806" y="3124383"/>
            <a:ext cx="43724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Asst. Trainer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Daffodil International Professional Training Institute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FDC7C6-012E-ACCD-95BA-178BAFF3D9E7}"/>
              </a:ext>
            </a:extLst>
          </p:cNvPr>
          <p:cNvSpPr/>
          <p:nvPr/>
        </p:nvSpPr>
        <p:spPr>
          <a:xfrm>
            <a:off x="3651711" y="4209865"/>
            <a:ext cx="4055375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Lead Trainer</a:t>
            </a:r>
          </a:p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eShikhon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IT Training Institute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5C137C-92D1-5D73-B20F-BD4564ED4E46}"/>
              </a:ext>
            </a:extLst>
          </p:cNvPr>
          <p:cNvSpPr/>
          <p:nvPr/>
        </p:nvSpPr>
        <p:spPr>
          <a:xfrm>
            <a:off x="7865706" y="4191202"/>
            <a:ext cx="37135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Lead Trainer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Wizard Software &amp; Technology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68C69-0745-4228-5ACD-E42A71B4632E}"/>
              </a:ext>
            </a:extLst>
          </p:cNvPr>
          <p:cNvSpPr/>
          <p:nvPr/>
        </p:nvSpPr>
        <p:spPr>
          <a:xfrm>
            <a:off x="3651712" y="5295348"/>
            <a:ext cx="3719472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📞 +88 01793-299882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594A1-DE42-BB77-00E0-C1DF5B226184}"/>
              </a:ext>
            </a:extLst>
          </p:cNvPr>
          <p:cNvSpPr/>
          <p:nvPr/>
        </p:nvSpPr>
        <p:spPr>
          <a:xfrm>
            <a:off x="7523915" y="5295347"/>
            <a:ext cx="4055375" cy="500763"/>
          </a:xfrm>
          <a:prstGeom prst="roundRect">
            <a:avLst>
              <a:gd name="adj" fmla="val 16461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✉️ shakil.eub.cse@gmail.com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CB43AE-627E-626F-853B-90FAB9074EE2}"/>
              </a:ext>
            </a:extLst>
          </p:cNvPr>
          <p:cNvSpPr/>
          <p:nvPr/>
        </p:nvSpPr>
        <p:spPr>
          <a:xfrm>
            <a:off x="3651712" y="5963202"/>
            <a:ext cx="4857806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🔗 https://www.linkedin.com/in/mrshakil015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5FD75C-7A85-517E-1896-241A31635B79}"/>
              </a:ext>
            </a:extLst>
          </p:cNvPr>
          <p:cNvSpPr/>
          <p:nvPr/>
        </p:nvSpPr>
        <p:spPr>
          <a:xfrm>
            <a:off x="8660409" y="5963202"/>
            <a:ext cx="2918881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🌐 https://mrshakil.com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2954147234"/>
      </p:ext>
    </p:extLst>
  </p:cSld>
  <p:clrMapOvr>
    <a:masterClrMapping/>
  </p:clrMapOvr>
  <p:transition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D0A20-275E-E058-5F63-DD97AF3B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F23C65-EF27-A5C0-E0C8-55A61973F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9F9AD-B03A-8655-F15D-74372A13D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37F37B-A3AA-E215-3A96-4D6F73ABB2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3AEB76-B8B4-7E2D-5C8C-633013CCEE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59064039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A29B-1ED4-BBBE-C8D5-7182C327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E7384-E4F7-FFE4-51FB-DD831C9E9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Python, data types define the type of value a variable can store. Python is a dynamically typed language, which means you do not need to declare the data type explicitly. The interpreter automatically assigns the data type based on the value.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8123E-8C33-0955-7716-3612127A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73185"/>
      </p:ext>
    </p:extLst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8353A-7F4D-B300-ED75-61DF4E04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CDA2D-17E9-6010-CF22-23DEE32453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types are important because they:</a:t>
            </a:r>
          </a:p>
          <a:p>
            <a:r>
              <a:rPr lang="en-US" dirty="0"/>
              <a:t>Define what kind of data a variable holds</a:t>
            </a:r>
          </a:p>
          <a:p>
            <a:r>
              <a:rPr lang="en-US" dirty="0"/>
              <a:t>Decide which operations can be performed</a:t>
            </a:r>
          </a:p>
          <a:p>
            <a:r>
              <a:rPr lang="en-US" dirty="0"/>
              <a:t>Help prevent errors in programs</a:t>
            </a:r>
          </a:p>
          <a:p>
            <a:r>
              <a:rPr lang="en-US" dirty="0"/>
              <a:t>Improve program readability and logic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9B07D-3FF2-2D4A-956D-4B4D1339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Why Data Types are Important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03560"/>
      </p:ext>
    </p:extLst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79AC-6905-AA46-E587-61B1DF0A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EDA28-02DD-412B-F9BA-C1BC90E0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8EEE58-58A6-4306-0C87-2332A94E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019188"/>
              </p:ext>
            </p:extLst>
          </p:nvPr>
        </p:nvGraphicFramePr>
        <p:xfrm>
          <a:off x="1864894" y="1684421"/>
          <a:ext cx="5915528" cy="4780548"/>
        </p:xfrm>
        <a:graphic>
          <a:graphicData uri="http://schemas.openxmlformats.org/drawingml/2006/table">
            <a:tbl>
              <a:tblPr/>
              <a:tblGrid>
                <a:gridCol w="2957764">
                  <a:extLst>
                    <a:ext uri="{9D8B030D-6E8A-4147-A177-3AD203B41FA5}">
                      <a16:colId xmlns:a16="http://schemas.microsoft.com/office/drawing/2014/main" val="3849993623"/>
                    </a:ext>
                  </a:extLst>
                </a:gridCol>
                <a:gridCol w="2957764">
                  <a:extLst>
                    <a:ext uri="{9D8B030D-6E8A-4147-A177-3AD203B41FA5}">
                      <a16:colId xmlns:a16="http://schemas.microsoft.com/office/drawing/2014/main" val="3363604247"/>
                    </a:ext>
                  </a:extLst>
                </a:gridCol>
              </a:tblGrid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724630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214664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04479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"Hello"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45123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True /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973076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[1, 2, 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881839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tuple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(1, 2, 3)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862411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dict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{"name": "John"}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738458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{"red", "green", "blue"}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899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541314"/>
      </p:ext>
    </p:extLst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ADDFB-6857-6BA2-3CC2-795B68F5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D70CB-0FF8-B7BC-C94C-9DE84748E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Mutable Data Types: </a:t>
            </a:r>
            <a:r>
              <a:rPr lang="en-US" dirty="0"/>
              <a:t>These can be changed after creation</a:t>
            </a:r>
          </a:p>
          <a:p>
            <a:r>
              <a:rPr lang="en-US" b="1" dirty="0"/>
              <a:t>Immutable Data Types: </a:t>
            </a:r>
            <a:r>
              <a:rPr lang="en-US" dirty="0"/>
              <a:t>These cannot be changed after creation.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A3999-1CEA-0707-0385-64A647B4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509795" cy="1047679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Mutable vs Immutable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784534-4DE2-881B-70E4-D61662162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063771"/>
              </p:ext>
            </p:extLst>
          </p:nvPr>
        </p:nvGraphicFramePr>
        <p:xfrm>
          <a:off x="1864894" y="3031958"/>
          <a:ext cx="5915528" cy="3187032"/>
        </p:xfrm>
        <a:graphic>
          <a:graphicData uri="http://schemas.openxmlformats.org/drawingml/2006/table">
            <a:tbl>
              <a:tblPr/>
              <a:tblGrid>
                <a:gridCol w="2957764">
                  <a:extLst>
                    <a:ext uri="{9D8B030D-6E8A-4147-A177-3AD203B41FA5}">
                      <a16:colId xmlns:a16="http://schemas.microsoft.com/office/drawing/2014/main" val="3849993623"/>
                    </a:ext>
                  </a:extLst>
                </a:gridCol>
                <a:gridCol w="2957764">
                  <a:extLst>
                    <a:ext uri="{9D8B030D-6E8A-4147-A177-3AD203B41FA5}">
                      <a16:colId xmlns:a16="http://schemas.microsoft.com/office/drawing/2014/main" val="3363604247"/>
                    </a:ext>
                  </a:extLst>
                </a:gridCol>
              </a:tblGrid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Immutable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724630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214664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04479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bool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451235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tuple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973076"/>
                  </a:ext>
                </a:extLst>
              </a:tr>
              <a:tr h="5311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88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09658"/>
      </p:ext>
    </p:extLst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1D1E-B344-4C35-4602-F7A2DC397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83712-D24D-FDA6-63DE-88245FBE3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the type() function to check a variable's data type.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E1549-10E6-7FDF-73B4-4DF08556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509795" cy="1047679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Checking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Data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CF9EB-FBC1-EDFC-C6F3-4C9A6455F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34" y="2105025"/>
            <a:ext cx="70866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08276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984E-8627-9E1F-7BB7-463838CC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78DAF-FD63-399B-BC75-E713E94F4D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Converting one data type to another.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B2797-5B63-27A3-6B47-F0173EE3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509795" cy="1047679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Type Conversion (Type Casting)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E52DA-F9F6-4B22-11BF-1918CB8C2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70" y="1992563"/>
            <a:ext cx="489585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57433"/>
      </p:ext>
    </p:extLst>
  </p:cSld>
  <p:clrMapOvr>
    <a:masterClrMapping/>
  </p:clrMapOvr>
  <p:transition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9ECC-CB52-BA9C-167A-1A5F2EAA7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Aptos Black" panose="020B0004020202020204" pitchFamily="34" charset="0"/>
              </a:rPr>
              <a:t>““Thanks All””</a:t>
            </a:r>
          </a:p>
        </p:txBody>
      </p:sp>
    </p:spTree>
    <p:extLst>
      <p:ext uri="{BB962C8B-B14F-4D97-AF65-F5344CB8AC3E}">
        <p14:creationId xmlns:p14="http://schemas.microsoft.com/office/powerpoint/2010/main" val="2789201780"/>
      </p:ext>
    </p:extLst>
  </p:cSld>
  <p:clrMapOvr>
    <a:masterClrMapping/>
  </p:clrMapOvr>
  <p:transition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1985</TotalTime>
  <Words>293</Words>
  <Application>Microsoft Office PowerPoint</Application>
  <PresentationFormat>Widescreen</PresentationFormat>
  <Paragraphs>71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(Body)</vt:lpstr>
      <vt:lpstr>Aptos Black</vt:lpstr>
      <vt:lpstr>Aptos Display</vt:lpstr>
      <vt:lpstr>Arial</vt:lpstr>
      <vt:lpstr>Arial Black</vt:lpstr>
      <vt:lpstr>Office Theme</vt:lpstr>
      <vt:lpstr>“On the way with Python”</vt:lpstr>
      <vt:lpstr>MD. SHAKIL </vt:lpstr>
      <vt:lpstr>Python Data Types</vt:lpstr>
      <vt:lpstr>Introduction</vt:lpstr>
      <vt:lpstr>Why Data Types are Important</vt:lpstr>
      <vt:lpstr>Data Types</vt:lpstr>
      <vt:lpstr>Mutable vs Immutable Data Types</vt:lpstr>
      <vt:lpstr>Checking Data Types</vt:lpstr>
      <vt:lpstr>Type Conversion (Type Casting)</vt:lpstr>
      <vt:lpstr>““Thanks All””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SHAKIL</dc:creator>
  <cp:lastModifiedBy>MD SHAKIL</cp:lastModifiedBy>
  <cp:revision>430</cp:revision>
  <dcterms:created xsi:type="dcterms:W3CDTF">2024-08-22T18:44:27Z</dcterms:created>
  <dcterms:modified xsi:type="dcterms:W3CDTF">2026-03-07T13:14:28Z</dcterms:modified>
</cp:coreProperties>
</file>