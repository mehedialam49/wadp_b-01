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68" r:id="rId3"/>
    <p:sldId id="258" r:id="rId4"/>
    <p:sldId id="259" r:id="rId5"/>
    <p:sldId id="369" r:id="rId6"/>
    <p:sldId id="260" r:id="rId7"/>
    <p:sldId id="261" r:id="rId8"/>
    <p:sldId id="262" r:id="rId9"/>
    <p:sldId id="263" r:id="rId10"/>
    <p:sldId id="265" r:id="rId11"/>
    <p:sldId id="372" r:id="rId12"/>
    <p:sldId id="264" r:id="rId13"/>
    <p:sldId id="271" r:id="rId14"/>
    <p:sldId id="270" r:id="rId15"/>
    <p:sldId id="370" r:id="rId16"/>
    <p:sldId id="266" r:id="rId17"/>
    <p:sldId id="267" r:id="rId18"/>
    <p:sldId id="268" r:id="rId19"/>
    <p:sldId id="269" r:id="rId20"/>
    <p:sldId id="371" r:id="rId21"/>
    <p:sldId id="272" r:id="rId22"/>
    <p:sldId id="273" r:id="rId23"/>
    <p:sldId id="274" r:id="rId24"/>
  </p:sldIdLst>
  <p:sldSz cx="12192000" cy="6858000"/>
  <p:notesSz cx="6858000" cy="9144000"/>
  <p:embeddedFontLst>
    <p:embeddedFont>
      <p:font typeface="Arial Black" panose="020B0A04020102020204" pitchFamily="34" charset="0"/>
      <p:regular r:id="rId26"/>
      <p:bold r:id="rId27"/>
    </p:embeddedFont>
    <p:embeddedFont>
      <p:font typeface="Play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Q8vxqw+6WS/CKMb5lpSvXP+R7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>
          <a:extLst>
            <a:ext uri="{FF2B5EF4-FFF2-40B4-BE49-F238E27FC236}">
              <a16:creationId xmlns:a16="http://schemas.microsoft.com/office/drawing/2014/main" id="{303F8B89-46C7-E4E4-2799-5BA9DDD4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>
            <a:extLst>
              <a:ext uri="{FF2B5EF4-FFF2-40B4-BE49-F238E27FC236}">
                <a16:creationId xmlns:a16="http://schemas.microsoft.com/office/drawing/2014/main" id="{CE83785B-E8DF-0513-A726-D4FBBED75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>
            <a:extLst>
              <a:ext uri="{FF2B5EF4-FFF2-40B4-BE49-F238E27FC236}">
                <a16:creationId xmlns:a16="http://schemas.microsoft.com/office/drawing/2014/main" id="{47DF28C7-60F7-3107-4D7F-8DFAD3EFA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4727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F716BDB9-4245-B141-843D-695196C8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4:notes">
            <a:extLst>
              <a:ext uri="{FF2B5EF4-FFF2-40B4-BE49-F238E27FC236}">
                <a16:creationId xmlns:a16="http://schemas.microsoft.com/office/drawing/2014/main" id="{ED9C8632-BE0D-EE45-4ACB-54E7A3146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:notes">
            <a:extLst>
              <a:ext uri="{FF2B5EF4-FFF2-40B4-BE49-F238E27FC236}">
                <a16:creationId xmlns:a16="http://schemas.microsoft.com/office/drawing/2014/main" id="{4A9DC06E-16A9-B258-6FDD-A3197C6D6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6356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-1" y="2201091"/>
            <a:ext cx="12191999" cy="23065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4083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Autofit/>
          </a:bodyPr>
          <a:lstStyle>
            <a:lvl1pPr algn="l"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2743013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708363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3899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0186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1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D8F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21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19" name="Google Shape;19;p21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5400"/>
              <a:buFont typeface="Play"/>
              <a:buNone/>
              <a:defRPr sz="54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5" name="Google Shape;25;p21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21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21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" name="Google Shape;28;p21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29" name="Google Shape;29;p21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21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21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3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6" name="Google Shape;46;p23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23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51" name="Google Shape;51;p23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52" name="Google Shape;52;p23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23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/>
        </p:nvSpPr>
        <p:spPr>
          <a:xfrm rot="5400000">
            <a:off x="3480278" y="-3200878"/>
            <a:ext cx="1079500" cy="80400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4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 rot="5400000">
            <a:off x="3426266" y="-3235766"/>
            <a:ext cx="1079500" cy="7932032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4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4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24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" name="Google Shape;66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7" name="Google Shape;67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" name="Google Shape;68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0" name="Google Shape;70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75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76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8" name="Google Shape;78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139949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24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8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83" name="Google Shape;83;p24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84" name="Google Shape;84;p24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24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25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8" name="Google Shape;88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89" name="Google Shape;89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0" name="Google Shape;90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1" name="Google Shape;91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2" name="Google Shape;92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3593981" y="5667375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3" name="Google Shape;93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4" name="Google Shape;94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5" name="Google Shape;95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6" name="Google Shape;96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7" name="Google Shape;97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8" name="Google Shape;98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267072" y="211228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9" name="Google Shape;99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0" name="Google Shape;100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1" name="Google Shape;101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2" name="Google Shape;102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3" name="Google Shape;103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4" name="Google Shape;104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5" name="Google Shape;105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25"/>
          <p:cNvSpPr/>
          <p:nvPr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5"/>
          <p:cNvGrpSpPr/>
          <p:nvPr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</p:grpSpPr>
        <p:sp>
          <p:nvSpPr>
            <p:cNvPr id="108" name="Google Shape;108;p25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5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5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" name="Google Shape;111;p25" descr="Python Logo PNG Transparent – Brands Log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655" y="5831621"/>
            <a:ext cx="640080" cy="637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5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13" name="Google Shape;113;p25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" name="Google Shape;114;p25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5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" name="Google Shape;116;p25"/>
          <p:cNvSpPr txBox="1"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000"/>
              <a:buFont typeface="Play"/>
              <a:buNone/>
              <a:defRPr sz="40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8" name="Google Shape;118;p25"/>
          <p:cNvGrpSpPr/>
          <p:nvPr/>
        </p:nvGrpSpPr>
        <p:grpSpPr>
          <a:xfrm>
            <a:off x="0" y="1792513"/>
            <a:ext cx="3675742" cy="3323772"/>
            <a:chOff x="0" y="1979288"/>
            <a:chExt cx="3675742" cy="3323772"/>
          </a:xfrm>
        </p:grpSpPr>
        <p:sp>
          <p:nvSpPr>
            <p:cNvPr id="119" name="Google Shape;119;p25"/>
            <p:cNvSpPr/>
            <p:nvPr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5"/>
            <p:cNvSpPr/>
            <p:nvPr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5"/>
            <p:cNvSpPr/>
            <p:nvPr/>
          </p:nvSpPr>
          <p:spPr>
            <a:xfrm>
              <a:off x="0" y="1980649"/>
              <a:ext cx="1866900" cy="3321050"/>
            </a:xfrm>
            <a:custGeom>
              <a:avLst/>
              <a:gdLst/>
              <a:ahLst/>
              <a:cxnLst/>
              <a:rect l="l" t="t" r="r" b="b"/>
              <a:pathLst>
                <a:path w="1866900" h="3321050" extrusionOk="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5"/>
          <p:cNvSpPr txBox="1"/>
          <p:nvPr/>
        </p:nvSpPr>
        <p:spPr>
          <a:xfrm>
            <a:off x="3796619" y="2814220"/>
            <a:ext cx="1054781" cy="128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cxnSp>
        <p:nvCxnSpPr>
          <p:cNvPr id="123" name="Google Shape;123;p25"/>
          <p:cNvCxnSpPr/>
          <p:nvPr/>
        </p:nvCxnSpPr>
        <p:spPr>
          <a:xfrm>
            <a:off x="4900749" y="2538088"/>
            <a:ext cx="0" cy="2206172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25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pic>
        <p:nvPicPr>
          <p:cNvPr id="125" name="Google Shape;125;p25" descr="Django Icon #266158 - Free Icons Library"/>
          <p:cNvPicPr preferRelativeResize="0"/>
          <p:nvPr/>
        </p:nvPicPr>
        <p:blipFill rotWithShape="1">
          <a:blip r:embed="rId4">
            <a:alphaModFix/>
          </a:blip>
          <a:srcRect l="3957" t="3918" r="4002" b="4265"/>
          <a:stretch/>
        </p:blipFill>
        <p:spPr>
          <a:xfrm>
            <a:off x="10034700" y="5810245"/>
            <a:ext cx="641645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6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6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1" name="Google Shape;131;p26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6"/>
          <p:cNvSpPr txBox="1">
            <a:spLocks noGrp="1"/>
          </p:cNvSpPr>
          <p:nvPr>
            <p:ph type="body" idx="2"/>
          </p:nvPr>
        </p:nvSpPr>
        <p:spPr>
          <a:xfrm>
            <a:off x="2038350" y="249255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135" name="Google Shape;135;p26"/>
          <p:cNvGrpSpPr/>
          <p:nvPr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136" name="Google Shape;136;p26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6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7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3" name="Google Shape;143;p27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5" name="Google Shape;145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6" name="Google Shape;146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7" name="Google Shape;147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8" name="Google Shape;148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9" name="Google Shape;149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0" name="Google Shape;150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1" name="Google Shape;151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2" name="Google Shape;152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3" name="Google Shape;153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4" name="Google Shape;154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5" name="Google Shape;155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7" name="Google Shape;157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8" name="Google Shape;158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0" name="Google Shape;160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1" name="Google Shape;161;p27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7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7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168" name="Google Shape;168;p27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169" name="Google Shape;169;p27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7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8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6" name="Google Shape;176;p28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8" name="Google Shape;178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9" name="Google Shape;179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0" name="Google Shape;180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1" name="Google Shape;181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2" name="Google Shape;182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3" name="Google Shape;183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4" name="Google Shape;184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5" name="Google Shape;185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6" name="Google Shape;186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7" name="Google Shape;187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8" name="Google Shape;188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0" name="Google Shape;190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1" name="Google Shape;191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3" name="Google Shape;193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4" name="Google Shape;194;p28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8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8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03" name="Google Shape;203;p28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04" name="Google Shape;204;p28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8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9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1" name="Google Shape;211;p29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3" name="Google Shape;213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4" name="Google Shape;214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5" name="Google Shape;215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6" name="Google Shape;216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7" name="Google Shape;217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8" name="Google Shape;218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9" name="Google Shape;219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0" name="Google Shape;220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1" name="Google Shape;221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2" name="Google Shape;222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3" name="Google Shape;223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5" name="Google Shape;225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6" name="Google Shape;226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8" name="Google Shape;228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9" name="Google Shape;229;p29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1"/>
          </p:nvPr>
        </p:nvSpPr>
        <p:spPr>
          <a:xfrm>
            <a:off x="858838" y="857871"/>
            <a:ext cx="10506075" cy="5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36" name="Google Shape;236;p29"/>
          <p:cNvGrpSpPr/>
          <p:nvPr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237" name="Google Shape;237;p29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9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1" name="Google Shape;241;p30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0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0" descr="Download Free Abstract shape Special Flat icon Icons in PNG &amp; SVG"/>
          <p:cNvPicPr preferRelativeResize="0"/>
          <p:nvPr/>
        </p:nvPicPr>
        <p:blipFill rotWithShape="1">
          <a:blip r:embed="rId3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0" descr="Abstract shape - Free shapes and symbols icons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7" name="Google Shape;247;p30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9" name="Google Shape;249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0" name="Google Shape;250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1" name="Google Shape;251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2" name="Google Shape;252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3" name="Google Shape;253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4" name="Google Shape;254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5" name="Google Shape;255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6" name="Google Shape;256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7" name="Google Shape;257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8" name="Google Shape;258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0" name="Google Shape;260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2" name="Google Shape;262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4" name="Google Shape;264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5" name="Google Shape;265;p30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0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 txBox="1">
            <a:spLocks noGrp="1"/>
          </p:cNvSpPr>
          <p:nvPr>
            <p:ph type="body" idx="1"/>
          </p:nvPr>
        </p:nvSpPr>
        <p:spPr>
          <a:xfrm>
            <a:off x="858838" y="1881595"/>
            <a:ext cx="10342562" cy="437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70" name="Google Shape;270;p30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71" name="Google Shape;271;p30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30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/>
          <p:nvPr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1"/>
          <p:cNvSpPr/>
          <p:nvPr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8" name="Google Shape;278;p31" descr="Python White Icons – Free Download SVG, PNG, G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1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31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81" name="Google Shape;281;p31"/>
          <p:cNvGrpSpPr/>
          <p:nvPr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282" name="Google Shape;282;p31" descr="Python Logo PNG Transparent – Brands Log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1" descr="Django Icon #266158 - Free Icons Library"/>
            <p:cNvPicPr preferRelativeResize="0"/>
            <p:nvPr/>
          </p:nvPicPr>
          <p:blipFill rotWithShape="1">
            <a:blip r:embed="rId4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32"/>
          <p:cNvGrpSpPr/>
          <p:nvPr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289" name="Google Shape;289;p32"/>
            <p:cNvSpPr/>
            <p:nvPr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2"/>
            <p:cNvSpPr/>
            <p:nvPr/>
          </p:nvSpPr>
          <p:spPr>
            <a:xfrm rot="-54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32"/>
          <p:cNvSpPr txBox="1"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  <a:defRPr sz="3600" b="1">
                <a:solidFill>
                  <a:srgbClr val="0351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93" name="Google Shape;293;p32"/>
          <p:cNvGrpSpPr/>
          <p:nvPr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294" name="Google Shape;294;p32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32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1942404" y="4303509"/>
              <a:ext cx="458318" cy="457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9" name="Google Shape;29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4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34"/>
          <p:cNvGrpSpPr/>
          <p:nvPr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309" name="Google Shape;309;p34"/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0042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11" name="Google Shape;311;p34"/>
          <p:cNvSpPr txBox="1"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7" name="Google Shape;31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5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47" name="Google Shape;347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8" name="Google Shape;34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5" name="Google Shape;35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49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800"/>
              <a:buFont typeface="Play"/>
              <a:buNone/>
            </a:pPr>
            <a:r>
              <a:rPr lang="en-US" sz="4400" dirty="0"/>
              <a:t>Welcome to the</a:t>
            </a:r>
            <a:br>
              <a:rPr lang="en-US" sz="4400" dirty="0"/>
            </a:br>
            <a:r>
              <a:rPr lang="en-US" sz="4000" dirty="0">
                <a:solidFill>
                  <a:schemeClr val="lt1"/>
                </a:solidFill>
              </a:rPr>
              <a:t>Web Application Development with Python L-4</a:t>
            </a:r>
            <a:br>
              <a:rPr lang="en-US" sz="4400" dirty="0"/>
            </a:br>
            <a:r>
              <a:rPr lang="en-US" sz="4000" dirty="0"/>
              <a:t>Training Program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2D1353-EC29-D173-4E49-A27864B5D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3306" y="1294718"/>
            <a:ext cx="7958880" cy="87481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MD. SHAKIL</a:t>
            </a:r>
            <a:b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0E8F5A-96F8-203D-40DE-60E100837EF4}"/>
              </a:ext>
            </a:extLst>
          </p:cNvPr>
          <p:cNvSpPr/>
          <p:nvPr/>
        </p:nvSpPr>
        <p:spPr>
          <a:xfrm>
            <a:off x="3633051" y="2076227"/>
            <a:ext cx="2220686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NSDA Certified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Trainer &amp; Assessor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FB8425-45AE-E74E-DE79-5E3F83DDB9C1}"/>
              </a:ext>
            </a:extLst>
          </p:cNvPr>
          <p:cNvSpPr/>
          <p:nvPr/>
        </p:nvSpPr>
        <p:spPr>
          <a:xfrm>
            <a:off x="5993240" y="2076227"/>
            <a:ext cx="5586050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Vendor Certified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IT Specialist in Python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A0B254-DAFC-93D4-6D46-77BAA5E9CE62}"/>
              </a:ext>
            </a:extLst>
          </p:cNvPr>
          <p:cNvSpPr/>
          <p:nvPr/>
        </p:nvSpPr>
        <p:spPr>
          <a:xfrm>
            <a:off x="3651711" y="3143046"/>
            <a:ext cx="3411561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Sr. Backend Developer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Ethical Den</a:t>
            </a:r>
            <a:endParaRPr lang="en-US" sz="18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5BCE71-0478-616A-0F45-CA8D237F4C1C}"/>
              </a:ext>
            </a:extLst>
          </p:cNvPr>
          <p:cNvSpPr/>
          <p:nvPr/>
        </p:nvSpPr>
        <p:spPr>
          <a:xfrm>
            <a:off x="7206806" y="3124383"/>
            <a:ext cx="43724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Asst. Trainer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Daffodil International Professional Training Institute</a:t>
            </a:r>
            <a:endParaRPr lang="en-US" sz="18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FDC7C6-012E-ACCD-95BA-178BAFF3D9E7}"/>
              </a:ext>
            </a:extLst>
          </p:cNvPr>
          <p:cNvSpPr/>
          <p:nvPr/>
        </p:nvSpPr>
        <p:spPr>
          <a:xfrm>
            <a:off x="3651711" y="4209865"/>
            <a:ext cx="4055375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Lead Trainer</a:t>
            </a:r>
          </a:p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eShikhon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IT Training Institute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5C137C-92D1-5D73-B20F-BD4564ED4E46}"/>
              </a:ext>
            </a:extLst>
          </p:cNvPr>
          <p:cNvSpPr/>
          <p:nvPr/>
        </p:nvSpPr>
        <p:spPr>
          <a:xfrm>
            <a:off x="7865706" y="4191202"/>
            <a:ext cx="37135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Lead Trainer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Wizard Software &amp; Technology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568C69-0745-4228-5ACD-E42A71B4632E}"/>
              </a:ext>
            </a:extLst>
          </p:cNvPr>
          <p:cNvSpPr/>
          <p:nvPr/>
        </p:nvSpPr>
        <p:spPr>
          <a:xfrm>
            <a:off x="3651712" y="5295348"/>
            <a:ext cx="3719472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+88 01793-299882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594A1-DE42-BB77-00E0-C1DF5B226184}"/>
              </a:ext>
            </a:extLst>
          </p:cNvPr>
          <p:cNvSpPr/>
          <p:nvPr/>
        </p:nvSpPr>
        <p:spPr>
          <a:xfrm>
            <a:off x="7523915" y="5295347"/>
            <a:ext cx="4055375" cy="500763"/>
          </a:xfrm>
          <a:prstGeom prst="roundRect">
            <a:avLst>
              <a:gd name="adj" fmla="val 16461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shakil.eub.cse@gmail.com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CB43AE-627E-626F-853B-90FAB9074EE2}"/>
              </a:ext>
            </a:extLst>
          </p:cNvPr>
          <p:cNvSpPr/>
          <p:nvPr/>
        </p:nvSpPr>
        <p:spPr>
          <a:xfrm>
            <a:off x="3651712" y="5963202"/>
            <a:ext cx="4857806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https://www.linkedin.com/in/mrshakil015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5FD75C-7A85-517E-1896-241A31635B79}"/>
              </a:ext>
            </a:extLst>
          </p:cNvPr>
          <p:cNvSpPr/>
          <p:nvPr/>
        </p:nvSpPr>
        <p:spPr>
          <a:xfrm>
            <a:off x="8660409" y="5963202"/>
            <a:ext cx="2918881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https://mrshakil.com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4147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12CB6-35B0-B38C-8ADE-C36B2B30C6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Arial"/>
                <a:cs typeface="Arial"/>
                <a:sym typeface="Arial"/>
              </a:rPr>
              <a:t>Python Dictionary</a:t>
            </a:r>
            <a:endParaRPr lang="en-US" dirty="0"/>
          </a:p>
        </p:txBody>
      </p:sp>
      <p:sp>
        <p:nvSpPr>
          <p:cNvPr id="384" name="Google Shape;384;p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Lecture</a:t>
            </a:r>
            <a:endParaRPr/>
          </a:p>
        </p:txBody>
      </p:sp>
      <p:sp>
        <p:nvSpPr>
          <p:cNvPr id="385" name="Google Shape;385;p3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</a:pP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</a:t>
            </a:r>
            <a:r>
              <a:rPr lang="en-US" b="1"/>
              <a:t>dictionary</a:t>
            </a:r>
            <a:r>
              <a:rPr lang="en-US"/>
              <a:t> in Python is a collection of data stored in </a:t>
            </a:r>
            <a:r>
              <a:rPr lang="en-US" b="1"/>
              <a:t>key–value pairs</a:t>
            </a:r>
            <a:r>
              <a:rPr lang="en-US"/>
              <a:t>. Dictionaries are </a:t>
            </a:r>
            <a:r>
              <a:rPr lang="en-US" b="1"/>
              <a:t>unordered</a:t>
            </a:r>
            <a:r>
              <a:rPr lang="en-US"/>
              <a:t>, </a:t>
            </a:r>
            <a:r>
              <a:rPr lang="en-US" b="1"/>
              <a:t>mutable (changeable)</a:t>
            </a:r>
            <a:r>
              <a:rPr lang="en-US"/>
              <a:t>, and </a:t>
            </a:r>
            <a:r>
              <a:rPr lang="en-US" b="1"/>
              <a:t>do not allow duplicate keys</a:t>
            </a:r>
            <a:r>
              <a:rPr lang="en-US"/>
              <a:t>. They are widely used to represent real-world data.</a:t>
            </a:r>
            <a:endParaRPr b="0" i="0"/>
          </a:p>
        </p:txBody>
      </p:sp>
      <p:sp>
        <p:nvSpPr>
          <p:cNvPr id="391" name="Google Shape;391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Python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Dictionary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93" name="Google Shape;39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2192" y="3186930"/>
            <a:ext cx="4883465" cy="352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>
          <a:extLst>
            <a:ext uri="{FF2B5EF4-FFF2-40B4-BE49-F238E27FC236}">
              <a16:creationId xmlns:a16="http://schemas.microsoft.com/office/drawing/2014/main" id="{40328A24-190E-9FD0-057E-BFDD3EE2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>
            <a:extLst>
              <a:ext uri="{FF2B5EF4-FFF2-40B4-BE49-F238E27FC236}">
                <a16:creationId xmlns:a16="http://schemas.microsoft.com/office/drawing/2014/main" id="{215CCA07-9FF9-5C9D-F0B7-770455171AFC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indent="0">
              <a:buNone/>
            </a:pPr>
            <a:r>
              <a:rPr lang="en-US" dirty="0"/>
              <a:t>Dictionaries are used to:</a:t>
            </a:r>
          </a:p>
          <a:p>
            <a:pPr>
              <a:buClr>
                <a:schemeClr val="bg1"/>
              </a:buClr>
            </a:pPr>
            <a:r>
              <a:rPr lang="en-US" dirty="0"/>
              <a:t>Store data with meaningful keys</a:t>
            </a:r>
          </a:p>
          <a:p>
            <a:pPr>
              <a:buClr>
                <a:schemeClr val="bg1"/>
              </a:buClr>
            </a:pPr>
            <a:r>
              <a:rPr lang="en-US" dirty="0"/>
              <a:t>Access values quickly using keys</a:t>
            </a:r>
          </a:p>
          <a:p>
            <a:pPr>
              <a:buClr>
                <a:schemeClr val="bg1"/>
              </a:buClr>
            </a:pPr>
            <a:r>
              <a:rPr lang="en-US" dirty="0"/>
              <a:t>Represent structured data (e.g., student, product, user)</a:t>
            </a:r>
          </a:p>
          <a:p>
            <a:pPr>
              <a:buClr>
                <a:schemeClr val="bg1"/>
              </a:buClr>
            </a:pPr>
            <a:r>
              <a:rPr lang="en-US" dirty="0"/>
              <a:t>Map relationships between data</a:t>
            </a:r>
          </a:p>
        </p:txBody>
      </p:sp>
      <p:sp>
        <p:nvSpPr>
          <p:cNvPr id="391" name="Google Shape;391;p4">
            <a:extLst>
              <a:ext uri="{FF2B5EF4-FFF2-40B4-BE49-F238E27FC236}">
                <a16:creationId xmlns:a16="http://schemas.microsoft.com/office/drawing/2014/main" id="{82688071-9569-44B0-851B-EF7701761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/>
              <a:t>Why Use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Dictionaries?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14764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B1EF3D-C910-454D-264B-8888A9889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Dictionaries are created using </a:t>
            </a:r>
            <a:r>
              <a:rPr lang="en-US" b="1" dirty="0"/>
              <a:t>curly braces { }</a:t>
            </a:r>
            <a:r>
              <a:rPr lang="en-US" dirty="0"/>
              <a:t> with key–value pairs separated by a colon(</a:t>
            </a:r>
            <a:r>
              <a:rPr lang="en-US" dirty="0">
                <a:sym typeface="Wingdings" panose="05000000000000000000" pitchFamily="2" charset="2"/>
              </a:rPr>
              <a:t>:)</a:t>
            </a:r>
            <a:endParaRPr lang="en-US" dirty="0"/>
          </a:p>
        </p:txBody>
      </p:sp>
      <p:sp>
        <p:nvSpPr>
          <p:cNvPr id="398" name="Google Shape;398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/>
              <a:t>Creating a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Dictionary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CCB107-624B-2C89-6449-88516B2E5473}"/>
              </a:ext>
            </a:extLst>
          </p:cNvPr>
          <p:cNvGrpSpPr/>
          <p:nvPr/>
        </p:nvGrpSpPr>
        <p:grpSpPr>
          <a:xfrm>
            <a:off x="3047999" y="2663336"/>
            <a:ext cx="6882063" cy="3638990"/>
            <a:chOff x="3064041" y="1748936"/>
            <a:chExt cx="6882063" cy="363899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CDF4D69-F915-D30B-5CC5-399B2385570B}"/>
                </a:ext>
              </a:extLst>
            </p:cNvPr>
            <p:cNvSpPr/>
            <p:nvPr/>
          </p:nvSpPr>
          <p:spPr>
            <a:xfrm>
              <a:off x="3064041" y="1893141"/>
              <a:ext cx="6882063" cy="3350579"/>
            </a:xfrm>
            <a:prstGeom prst="roundRect">
              <a:avLst>
                <a:gd name="adj" fmla="val 517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9" name="Google Shape;399;p5" descr="Key Value Pairs in a Dictionary"/>
            <p:cNvPicPr preferRelativeResize="0"/>
            <p:nvPr/>
          </p:nvPicPr>
          <p:blipFill rotWithShape="1">
            <a:blip r:embed="rId3">
              <a:alphaModFix/>
            </a:blip>
            <a:srcRect l="28028" r="13805"/>
            <a:stretch>
              <a:fillRect/>
            </a:stretch>
          </p:blipFill>
          <p:spPr>
            <a:xfrm>
              <a:off x="3368841" y="1748936"/>
              <a:ext cx="6384759" cy="36389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1F7CFF-2A15-B234-E79B-A80AB5CA8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4" name="Google Shape;404;p6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493752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Access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Dictionary Elements by Key</a:t>
            </a:r>
            <a:endParaRPr dirty="0"/>
          </a:p>
        </p:txBody>
      </p:sp>
      <p:pic>
        <p:nvPicPr>
          <p:cNvPr id="405" name="Google Shape;40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3207" y="1710207"/>
            <a:ext cx="7964658" cy="4103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C5C66E-065D-E6C4-578A-ACFC1ADA0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0" name="Google Shape;41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Adding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Items</a:t>
            </a:r>
            <a:endParaRPr dirty="0"/>
          </a:p>
        </p:txBody>
      </p:sp>
      <p:pic>
        <p:nvPicPr>
          <p:cNvPr id="411" name="Google Shape;41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0213" y="1425304"/>
            <a:ext cx="7951574" cy="4996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48208F-BE42-D8E4-AC5C-70C5CC5A2F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6" name="Google Shape;41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Modifying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Items</a:t>
            </a:r>
            <a:endParaRPr dirty="0"/>
          </a:p>
        </p:txBody>
      </p:sp>
      <p:pic>
        <p:nvPicPr>
          <p:cNvPr id="417" name="Google Shape;4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0213" y="1425304"/>
            <a:ext cx="7951573" cy="4996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D90F04-25D1-6EBB-40D2-225B9366B4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8" name="Google Shape;428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Find Dictionary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Length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9" name="Google Shape;42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6025" y="1531197"/>
            <a:ext cx="7139949" cy="5047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4728-083A-31DE-192A-A1A95D170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Removing Dictionary Items</a:t>
            </a:r>
          </a:p>
        </p:txBody>
      </p:sp>
    </p:spTree>
    <p:extLst>
      <p:ext uri="{BB962C8B-B14F-4D97-AF65-F5344CB8AC3E}">
        <p14:creationId xmlns:p14="http://schemas.microsoft.com/office/powerpoint/2010/main" val="200561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77DD2F-C9EA-0E6B-B853-3D75FBE8C5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2" name="Google Shape;422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Remove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Dictionary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Items</a:t>
            </a:r>
            <a:endParaRPr dirty="0"/>
          </a:p>
        </p:txBody>
      </p:sp>
      <p:pic>
        <p:nvPicPr>
          <p:cNvPr id="423" name="Google Shape;42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0213" y="1425304"/>
            <a:ext cx="7951573" cy="4996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Removes and returns the value associated with the specified key. If the key is not found, it raises a KeyError unless a default value is provided.</a:t>
            </a:r>
            <a:endParaRPr b="0" i="0"/>
          </a:p>
        </p:txBody>
      </p:sp>
      <p:sp>
        <p:nvSpPr>
          <p:cNvPr id="469" name="Google Shape;469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pop()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70" name="Google Shape;4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4727" y="2485040"/>
            <a:ext cx="7556696" cy="3893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Removes all items from the dictionary.</a:t>
            </a:r>
            <a:endParaRPr b="0" i="0"/>
          </a:p>
        </p:txBody>
      </p:sp>
      <p:sp>
        <p:nvSpPr>
          <p:cNvPr id="462" name="Google Shape;462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clear()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63" name="Google Shape;46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3600" y="2188931"/>
            <a:ext cx="7556696" cy="4186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2BAC-7797-E973-232C-7F46A6D3F2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 in Dictionary</a:t>
            </a:r>
          </a:p>
        </p:txBody>
      </p:sp>
    </p:spTree>
    <p:extLst>
      <p:ext uri="{BB962C8B-B14F-4D97-AF65-F5344CB8AC3E}">
        <p14:creationId xmlns:p14="http://schemas.microsoft.com/office/powerpoint/2010/main" val="3420959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Returns the value for a given key. If the key is not found, it returns None.</a:t>
            </a:r>
            <a:endParaRPr b="0" i="0"/>
          </a:p>
        </p:txBody>
      </p:sp>
      <p:sp>
        <p:nvSpPr>
          <p:cNvPr id="434" name="Google Shape;434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get()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36" name="Google Shape;43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2696" y="2597057"/>
            <a:ext cx="8006862" cy="3827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Returns a view object that displays a list of dictionary’s key-value tuple pairs.</a:t>
            </a:r>
            <a:endParaRPr b="0" i="0"/>
          </a:p>
        </p:txBody>
      </p:sp>
      <p:sp>
        <p:nvSpPr>
          <p:cNvPr id="441" name="Google Shape;441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items()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43" name="Google Shape;44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2696" y="2597057"/>
            <a:ext cx="8006862" cy="3827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Returns a view object that displays a list of all the keys in the dictionary.</a:t>
            </a:r>
            <a:endParaRPr b="0" i="0"/>
          </a:p>
        </p:txBody>
      </p:sp>
      <p:sp>
        <p:nvSpPr>
          <p:cNvPr id="448" name="Google Shape;44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keys()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50" name="Google Shape;45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2697" y="2597057"/>
            <a:ext cx="8006860" cy="3827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Returns the values in the dictionary.</a:t>
            </a:r>
            <a:endParaRPr b="0" i="0"/>
          </a:p>
        </p:txBody>
      </p:sp>
      <p:sp>
        <p:nvSpPr>
          <p:cNvPr id="455" name="Google Shape;455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values()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57" name="Google Shape;45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2570" y="2168790"/>
            <a:ext cx="8006860" cy="3827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158EB5F9-C771-BE7E-639C-FA0A353F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">
            <a:extLst>
              <a:ext uri="{FF2B5EF4-FFF2-40B4-BE49-F238E27FC236}">
                <a16:creationId xmlns:a16="http://schemas.microsoft.com/office/drawing/2014/main" id="{E6CF5A02-12E7-AB50-CEDB-58D1E8C16CF4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Returns a copy of the specified dictionary.</a:t>
            </a:r>
            <a:endParaRPr b="0" i="0" dirty="0"/>
          </a:p>
        </p:txBody>
      </p:sp>
      <p:sp>
        <p:nvSpPr>
          <p:cNvPr id="455" name="Google Shape;455;p14">
            <a:extLst>
              <a:ext uri="{FF2B5EF4-FFF2-40B4-BE49-F238E27FC236}">
                <a16:creationId xmlns:a16="http://schemas.microsoft.com/office/drawing/2014/main" id="{1736D87D-193A-3FA3-18B8-466E955AAC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copy()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57" name="Google Shape;457;p14">
            <a:extLst>
              <a:ext uri="{FF2B5EF4-FFF2-40B4-BE49-F238E27FC236}">
                <a16:creationId xmlns:a16="http://schemas.microsoft.com/office/drawing/2014/main" id="{C75C2E8A-D526-A4A7-99C3-BFF9BAF339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849119" y="2217667"/>
            <a:ext cx="4246881" cy="3827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9428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924FE5-9D18-9D37-3AF0-EB0A39A04E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6" name="Google Shape;47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Iterate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Through a Dictionary</a:t>
            </a:r>
            <a:endParaRPr dirty="0"/>
          </a:p>
        </p:txBody>
      </p:sp>
      <p:pic>
        <p:nvPicPr>
          <p:cNvPr id="477" name="Google Shape;47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025" y="1484140"/>
            <a:ext cx="7139949" cy="5294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792C12-C4E3-D41D-E3D6-16A2731C3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2" name="Google Shape;482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Nested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Dictionary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83" name="Google Shape;48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3394" y="1531197"/>
            <a:ext cx="5925212" cy="5047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6600"/>
              <a:buFont typeface="Play"/>
              <a:buNone/>
            </a:pPr>
            <a:r>
              <a:rPr lang="en-US" sz="6600" dirty="0"/>
              <a:t>Thanks All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351</Words>
  <Application>Microsoft Office PowerPoint</Application>
  <PresentationFormat>Widescreen</PresentationFormat>
  <Paragraphs>54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Play</vt:lpstr>
      <vt:lpstr>Arial Black</vt:lpstr>
      <vt:lpstr>Wingdings</vt:lpstr>
      <vt:lpstr>Office Theme</vt:lpstr>
      <vt:lpstr>Welcome to the Web Application Development with Python L-4 Training Program</vt:lpstr>
      <vt:lpstr>MD. SHAKIL </vt:lpstr>
      <vt:lpstr>Python Dictionary</vt:lpstr>
      <vt:lpstr>Python Dictionary</vt:lpstr>
      <vt:lpstr>Why Use Dictionaries?</vt:lpstr>
      <vt:lpstr>Creating a Dictionary</vt:lpstr>
      <vt:lpstr>Access Dictionary Elements by Key</vt:lpstr>
      <vt:lpstr>Adding Items</vt:lpstr>
      <vt:lpstr>Modifying Items</vt:lpstr>
      <vt:lpstr>Find Dictionary Length</vt:lpstr>
      <vt:lpstr>Removing Dictionary Items</vt:lpstr>
      <vt:lpstr>Remove Dictionary Items</vt:lpstr>
      <vt:lpstr>pop() Method in Dictionary</vt:lpstr>
      <vt:lpstr>clear() Method in Dictionary</vt:lpstr>
      <vt:lpstr>Method in Dictionary</vt:lpstr>
      <vt:lpstr>get() Method in Dictionary</vt:lpstr>
      <vt:lpstr>items() Method in Dictionary</vt:lpstr>
      <vt:lpstr>keys() Method in Dictionary</vt:lpstr>
      <vt:lpstr>values() Method in Dictionary</vt:lpstr>
      <vt:lpstr>copy() Method in Dictionary</vt:lpstr>
      <vt:lpstr>Iterate Through a Dictionary</vt:lpstr>
      <vt:lpstr>Nested Dictionary</vt:lpstr>
      <vt:lpstr>Thanks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 SHAKIL</dc:creator>
  <cp:lastModifiedBy>MD SHAKIL</cp:lastModifiedBy>
  <cp:revision>9</cp:revision>
  <dcterms:created xsi:type="dcterms:W3CDTF">2024-08-22T18:44:27Z</dcterms:created>
  <dcterms:modified xsi:type="dcterms:W3CDTF">2026-03-09T23:54:10Z</dcterms:modified>
</cp:coreProperties>
</file>