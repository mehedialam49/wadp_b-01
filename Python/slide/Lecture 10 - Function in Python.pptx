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369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Play" charset="0"/>
      <p:regular r:id="rId22"/>
      <p:bold r:id="rId23"/>
    </p:embeddedFont>
    <p:embeddedFont>
      <p:font typeface="Arial Black" pitchFamily="34" charset="0"/>
      <p:bold r:id="rId24"/>
    </p:embeddedFont>
    <p:embeddedFont>
      <p:font typeface="Verdana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hViHyPapw6XS/n2gqr4pcO3G0u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-724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89445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>
          <a:extLst>
            <a:ext uri="{FF2B5EF4-FFF2-40B4-BE49-F238E27FC236}">
              <a16:creationId xmlns:a16="http://schemas.microsoft.com/office/drawing/2014/main" xmlns="" id="{F29C376F-9335-A8E5-A7DE-D94A744C6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1:notes">
            <a:extLst>
              <a:ext uri="{FF2B5EF4-FFF2-40B4-BE49-F238E27FC236}">
                <a16:creationId xmlns:a16="http://schemas.microsoft.com/office/drawing/2014/main" xmlns="" id="{1E6AD9A6-5920-A557-2CFC-3ACD651F3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1:notes">
            <a:extLst>
              <a:ext uri="{FF2B5EF4-FFF2-40B4-BE49-F238E27FC236}">
                <a16:creationId xmlns:a16="http://schemas.microsoft.com/office/drawing/2014/main" xmlns="" id="{4C111B84-7BD3-7D22-FE43-AD8CEBCB3C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17204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9B7CAB7-9612-1BB0-A2EC-06CE1AAB5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649D6C7-11B3-C738-1510-DBE16DB04E08}"/>
              </a:ext>
            </a:extLst>
          </p:cNvPr>
          <p:cNvSpPr/>
          <p:nvPr userDrawn="1"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xmlns="" id="{51191BAE-7C5B-0A80-6F2D-D0190D18E234}"/>
              </a:ext>
            </a:extLst>
          </p:cNvPr>
          <p:cNvSpPr/>
          <p:nvPr userDrawn="1"/>
        </p:nvSpPr>
        <p:spPr>
          <a:xfrm>
            <a:off x="872309" y="1646645"/>
            <a:ext cx="3352800" cy="478972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5E056488-6100-84A2-6A94-AE41407EDA0D}"/>
              </a:ext>
            </a:extLst>
          </p:cNvPr>
          <p:cNvGrpSpPr/>
          <p:nvPr userDrawn="1"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  <a:solidFill>
            <a:schemeClr val="bg2">
              <a:lumMod val="50000"/>
            </a:schemeClr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xmlns="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xmlns="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xmlns="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46FBD-D7EA-4B09-0A6F-0F777842C1C0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-1" y="2537778"/>
            <a:ext cx="12191999" cy="1969830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78" name="Parallelogram 1377">
            <a:extLst>
              <a:ext uri="{FF2B5EF4-FFF2-40B4-BE49-F238E27FC236}">
                <a16:creationId xmlns:a16="http://schemas.microsoft.com/office/drawing/2014/main" xmlns="" id="{84335B70-DF9C-CC22-1C4C-D0D0A7A2C9D2}"/>
              </a:ext>
            </a:extLst>
          </p:cNvPr>
          <p:cNvSpPr/>
          <p:nvPr userDrawn="1"/>
        </p:nvSpPr>
        <p:spPr>
          <a:xfrm>
            <a:off x="830218" y="1571171"/>
            <a:ext cx="3352800" cy="478972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0" name="Group 1379">
            <a:extLst>
              <a:ext uri="{FF2B5EF4-FFF2-40B4-BE49-F238E27FC236}">
                <a16:creationId xmlns:a16="http://schemas.microsoft.com/office/drawing/2014/main" xmlns="" id="{18E139F5-CAB4-E9C9-03CF-6506671E67D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381" name="Straight Connector 1380">
              <a:extLst>
                <a:ext uri="{FF2B5EF4-FFF2-40B4-BE49-F238E27FC236}">
                  <a16:creationId xmlns:a16="http://schemas.microsoft.com/office/drawing/2014/main" xmlns="" id="{102DA1AC-8CA2-BCAE-3CF1-CBEFFFD813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xmlns="" id="{2F2C9467-A5F5-68BC-D665-80CF553A55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Straight Connector 1382">
              <a:extLst>
                <a:ext uri="{FF2B5EF4-FFF2-40B4-BE49-F238E27FC236}">
                  <a16:creationId xmlns:a16="http://schemas.microsoft.com/office/drawing/2014/main" xmlns="" id="{7DDE37CA-6CA8-91A5-0964-16E09EC980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F17C2C83-5B4B-A658-7B91-3CE3541E94DF}"/>
              </a:ext>
            </a:extLst>
          </p:cNvPr>
          <p:cNvGrpSpPr/>
          <p:nvPr userDrawn="1"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1028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FC39FE0-99F6-CC7E-B041-EC521B1BF8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7681" y="6183837"/>
              <a:ext cx="546282" cy="544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Django Icon #266158 - Free Icons Library">
              <a:extLst>
                <a:ext uri="{FF2B5EF4-FFF2-40B4-BE49-F238E27FC236}">
                  <a16:creationId xmlns:a16="http://schemas.microsoft.com/office/drawing/2014/main" xmlns="" id="{27AEB5A1-FA25-7B4D-CFD0-FBBF6253F81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6790832" y="6183837"/>
              <a:ext cx="549981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B633183F-EBC5-D171-8FF5-9915EC5D6446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B1427CF-405C-6829-726C-98A3856722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A04F4E1-CA26-7C1E-C1D7-26C243592D5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B9EFAAA-0989-4A24-68C4-790FD43440F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4CA33C0-5D5A-1910-CD8C-CA7BE6E9604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59C55F3-BCC6-F9D0-9ABB-1F8576622B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44CDEC1-B176-DB97-4A57-FC43D7F02A5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D043D98-F0A5-C838-F2A1-95821F6021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02485" y="5158622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DC6B5B4-2F74-D9EC-D039-D3727E905A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3D0CA6F-CCA5-1C22-4F89-C02126D39F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29C3376-AE93-D01C-5830-BA4AB452FE4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68546" y="1397768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BC915B9-4166-C586-8D4B-D6987653EA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536BE4B-0D59-0A21-8677-1653E9A86AA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68ECA9C-BB31-4BB0-BF9A-9D0043D412F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C0BB765D-CAAE-4E01-7835-EC7B57B2198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E375847-5A52-48E6-9845-FF2B762803B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F74EC4E-81C1-19A0-A7D6-DFD7028AC9B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9F6BF39-C008-733B-704C-F71C61133C4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Google Shape;82;p24">
            <a:extLst>
              <a:ext uri="{FF2B5EF4-FFF2-40B4-BE49-F238E27FC236}">
                <a16:creationId xmlns:a16="http://schemas.microsoft.com/office/drawing/2014/main" xmlns="" id="{939AB8A8-8D2A-A013-67EB-C4E197A2B203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8312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 with Lef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F847877-5D6B-7E1F-1910-95A2DE69C1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2606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D1BD198B-9F33-990A-63F4-89329A571653}"/>
              </a:ext>
            </a:extLst>
          </p:cNvPr>
          <p:cNvSpPr/>
          <p:nvPr userDrawn="1"/>
        </p:nvSpPr>
        <p:spPr>
          <a:xfrm>
            <a:off x="1311590" y="1365250"/>
            <a:ext cx="1864038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71850" y="2379789"/>
            <a:ext cx="8261350" cy="1170717"/>
          </a:xfrm>
        </p:spPr>
        <p:txBody>
          <a:bodyPr anchor="ctr">
            <a:noAutofit/>
          </a:bodyPr>
          <a:lstStyle>
            <a:lvl1pPr algn="l">
              <a:defRPr sz="4400" b="1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71850" y="3550506"/>
            <a:ext cx="826135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67799B20-E6CC-B71E-C7D0-7E5636457248}"/>
              </a:ext>
            </a:extLst>
          </p:cNvPr>
          <p:cNvGrpSpPr/>
          <p:nvPr userDrawn="1"/>
        </p:nvGrpSpPr>
        <p:grpSpPr>
          <a:xfrm>
            <a:off x="1771681" y="2363916"/>
            <a:ext cx="943855" cy="2130168"/>
            <a:chOff x="1950885" y="4827717"/>
            <a:chExt cx="458999" cy="1035906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xmlns="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50885" y="5406423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BD17C2E8-5C61-D760-DCB2-DB31DA7E912E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2675288-14E1-8ADC-6E7E-8D3DF45BE80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AE8CC54-6792-17F8-D3C9-4A99D1D935E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5FEFFF2-2FB9-013F-F6F9-96E63237EBC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3097202-1921-D6B5-6904-3E8473D308C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65B4D36-31BD-2B11-7091-0C619DFF93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60C04F2-F462-CEE1-9E14-E8151C4DA8E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FCD9DF6-1793-1128-30BC-DA7B29573F6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44D1F40-9288-A7A2-C163-51168B15EB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FE4014B-1F1D-F7B0-FED8-E76E76636A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F831050-0D74-D02E-2CEE-307F17E58B1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2036875-E85B-466F-2452-B0409C38C97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E01668D-867A-25BA-3259-8C8D51BB45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9B7FAF6-7C20-DAD7-700E-F5A7B83DAAB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265E2A4-F29F-8C32-F8AD-61A29C9B1D3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AFFA4C9-DB73-C7DB-AA0D-30F15D23E42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9B4CEEF-A15F-EA54-A0E6-9054241D368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B9BD0E5-C11A-AA1D-EC3E-61D0D0C3086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Rectangle: Single Corner Rounded 28">
            <a:extLst>
              <a:ext uri="{FF2B5EF4-FFF2-40B4-BE49-F238E27FC236}">
                <a16:creationId xmlns:a16="http://schemas.microsoft.com/office/drawing/2014/main" xmlns="" id="{43BA5D5C-7867-1634-4DB9-18CED4FEF7D9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1CCED47-A41C-516D-F607-824EF0EB2BE8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33858105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ecture N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0A53CA52-31B9-3A77-2823-E105AD74D8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Autofit/>
          </a:bodyPr>
          <a:lstStyle>
            <a:lvl1pPr algn="l">
              <a:defRPr sz="4000" b="1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1437CE62-271A-52C6-9C2A-A245E26BA299}"/>
              </a:ext>
            </a:extLst>
          </p:cNvPr>
          <p:cNvCxnSpPr>
            <a:cxnSpLocks/>
          </p:cNvCxnSpPr>
          <p:nvPr userDrawn="1"/>
        </p:nvCxnSpPr>
        <p:spPr>
          <a:xfrm>
            <a:off x="2063750" y="3096483"/>
            <a:ext cx="12827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35">
            <a:extLst>
              <a:ext uri="{FF2B5EF4-FFF2-40B4-BE49-F238E27FC236}">
                <a16:creationId xmlns:a16="http://schemas.microsoft.com/office/drawing/2014/main" xmlns="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51050" y="2542620"/>
            <a:ext cx="1282700" cy="558800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xmlns="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4400" b="1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67799B20-E6CC-B71E-C7D0-7E5636457248}"/>
              </a:ext>
            </a:extLst>
          </p:cNvPr>
          <p:cNvGrpSpPr/>
          <p:nvPr userDrawn="1"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xmlns="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0DB26DF6-9475-9193-1ABA-DCCB2E39B4B0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B2DC3E2-513C-2FC0-A79B-AA2D4107228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FA83FBD-9BAB-FF7F-E029-9BA4EBE075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1AAD538-FF94-65D4-4C5E-30DD890783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3B8C9B5-F5A9-3BCA-909D-8F6FC85578D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257332A-CE3C-09E7-EE65-A670DBADFC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4E14C98-7284-C5BC-6D77-C05C6D4BC0D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D2FF988-C167-702C-EC57-1A0001C0DD3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6485F8C-5277-B97B-52FA-B6366EB93E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694840C-316F-D2BA-321F-651A3EBD57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ADD3ECF-D3D5-EAC5-411F-E13E13301A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4BB5171-7BA9-E2F2-C2A9-DD58651CDF1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CED1A7A3-B815-71DC-9D32-9ABD788CDA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CA931C7-9424-829E-4CB9-2868DF5AF0D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A908515-A8E6-6AF5-22BC-3CA2DE55AD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04036C4-BCF4-00D8-85F5-BFF24B5CAEE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735749C-98ED-1D52-D759-A43399C079A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4D0BBF1-0096-3974-2366-DA7603219AE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Rectangle: Single Corner Rounded 30">
            <a:extLst>
              <a:ext uri="{FF2B5EF4-FFF2-40B4-BE49-F238E27FC236}">
                <a16:creationId xmlns:a16="http://schemas.microsoft.com/office/drawing/2014/main" xmlns="" id="{749464A5-FC53-CB85-A728-217E6696E5A3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E04C8371-F443-1F1B-34A0-A3A7DD2B426C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1979175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D96BEA09-0983-13EF-017F-E168EAC9C3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xmlns="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xmlns="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D7C1F87D-D409-F070-539D-F55A3A6314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99" name="Group 4098">
            <a:extLst>
              <a:ext uri="{FF2B5EF4-FFF2-40B4-BE49-F238E27FC236}">
                <a16:creationId xmlns:a16="http://schemas.microsoft.com/office/drawing/2014/main" xmlns="" id="{FA0F5532-CEFD-DD01-3C61-7C7BF58704CD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A7441D8B-0A58-19FB-F5E0-2EC0933BF08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4499C0E-5B25-DFA7-3BF0-1ADA8930B3B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2660B8D-0147-A7AE-C2DB-27D8A8B65BB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3527535-22ED-8539-7B16-0CF5347C3A9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92D96E9-8A64-0879-2D3D-37798FB195A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01D60CF-033F-1D8F-61C2-B4199336D4B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7BD762B-C204-08C9-8638-1519DDDC1C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F51B538-5CA3-E2D8-AEF9-2212CC86026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205D912-E0CB-2A83-56D1-F7957BAE6CC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ABEC6B6-5F4B-2EA6-A409-19F91C2901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3F15070-1191-9EAF-E085-52C88E9F89C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544368E-82E6-63D3-A0D0-653CAEF1E7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80D23E49-2470-7FDA-27B3-522A3D070A2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9F63876-6F02-61B8-027A-3DA41FAE3D4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8211E1D1-DAB6-3006-023F-A7036481263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332AE41-DE54-00AB-1F67-C74C9B273A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F7E6F3F-CE48-9EA0-B0DA-87DB0CD201D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Arial Black" panose="020B0A04020102020204" pitchFamily="34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Google Shape;82;p24">
            <a:extLst>
              <a:ext uri="{FF2B5EF4-FFF2-40B4-BE49-F238E27FC236}">
                <a16:creationId xmlns:a16="http://schemas.microsoft.com/office/drawing/2014/main" xmlns="" id="{5217E10A-CA63-7A57-03CB-9061CD99B1F2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7555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out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2F6B822-4878-CE66-7914-B9E9D84C36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97" name="Group 4096">
            <a:extLst>
              <a:ext uri="{FF2B5EF4-FFF2-40B4-BE49-F238E27FC236}">
                <a16:creationId xmlns:a16="http://schemas.microsoft.com/office/drawing/2014/main" xmlns="" id="{03245A72-678A-458C-04E8-FFFECEBCFF08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09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813B801-927E-41EF-E02A-C398474DF0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9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4768EDF-C4F7-EE70-2452-DA34FAD43A4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1F19D82-B836-AEB3-199F-964897E06B5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D534662-92A1-EF8A-2498-E0A9CE0C766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7442E89-295C-84D6-CF2C-E9F77F887B5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0B096B7-93D7-04DD-85B3-ED370A1B7F3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04253CE-6429-6222-0EB5-262CC0CA20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99EFC06-ECCA-24D3-6B58-669DB109E7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B5714F2-44F7-8A13-FFC2-96636CF4816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3E2BE3A-9459-8B43-3B96-94255A2A8CC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922DF5F-0D6F-72C2-006D-8A06723FCD1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42A20B5-85A2-B92C-666F-0F03F69A073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4219F12-99D3-9621-34F2-540A9AD61CA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40E4C70-DA73-269B-37B0-476783D4BD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6C7E3F3-66B5-F596-12C8-C3C50F0724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6AB8705-8B3D-C217-A81C-5F9CF63A029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2F325EA-8E70-A44B-4B9E-04286285621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096" name="Text Placeholder 3">
            <a:extLst>
              <a:ext uri="{FF2B5EF4-FFF2-40B4-BE49-F238E27FC236}">
                <a16:creationId xmlns:a16="http://schemas.microsoft.com/office/drawing/2014/main" xmlns="" id="{B56125E8-88A8-608F-3323-4FDE51F03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Google Shape;82;p24">
            <a:extLst>
              <a:ext uri="{FF2B5EF4-FFF2-40B4-BE49-F238E27FC236}">
                <a16:creationId xmlns:a16="http://schemas.microsoft.com/office/drawing/2014/main" xmlns="" id="{61FC9036-995B-EA9F-9472-E98C0D17A70C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7720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/>
          <p:nvPr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1"/>
          <p:cNvSpPr/>
          <p:nvPr/>
        </p:nvSpPr>
        <p:spPr>
          <a:xfrm>
            <a:off x="872309" y="1646645"/>
            <a:ext cx="3352800" cy="478972"/>
          </a:xfrm>
          <a:prstGeom prst="parallelogram">
            <a:avLst>
              <a:gd name="adj" fmla="val 25000"/>
            </a:avLst>
          </a:prstGeom>
          <a:solidFill>
            <a:srgbClr val="D8F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21"/>
          <p:cNvGrpSpPr/>
          <p:nvPr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</p:grpSpPr>
        <p:sp>
          <p:nvSpPr>
            <p:cNvPr id="19" name="Google Shape;19;p21"/>
            <p:cNvSpPr/>
            <p:nvPr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1"/>
            <p:cNvSpPr/>
            <p:nvPr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1"/>
            <p:cNvSpPr/>
            <p:nvPr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21"/>
          <p:cNvSpPr txBox="1">
            <a:spLocks noGrp="1"/>
          </p:cNvSpPr>
          <p:nvPr>
            <p:ph type="ctrTitle"/>
          </p:nvPr>
        </p:nvSpPr>
        <p:spPr>
          <a:xfrm>
            <a:off x="1524000" y="2843640"/>
            <a:ext cx="91440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5400"/>
              <a:buFont typeface="Play"/>
              <a:buNone/>
              <a:defRPr sz="5400" b="1">
                <a:solidFill>
                  <a:srgbClr val="A6CF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/>
          <p:nvPr/>
        </p:nvSpPr>
        <p:spPr>
          <a:xfrm>
            <a:off x="830218" y="1571171"/>
            <a:ext cx="3352800" cy="478972"/>
          </a:xfrm>
          <a:prstGeom prst="parallelogram">
            <a:avLst>
              <a:gd name="adj" fmla="val 2500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p21"/>
          <p:cNvGrpSpPr/>
          <p:nvPr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25" name="Google Shape;25;p21"/>
            <p:cNvCxnSpPr/>
            <p:nvPr/>
          </p:nvCxnSpPr>
          <p:spPr>
            <a:xfrm>
              <a:off x="4876800" y="522514"/>
              <a:ext cx="73152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" name="Google Shape;26;p21"/>
            <p:cNvCxnSpPr/>
            <p:nvPr/>
          </p:nvCxnSpPr>
          <p:spPr>
            <a:xfrm>
              <a:off x="5608320" y="667656"/>
              <a:ext cx="6583680" cy="0"/>
            </a:xfrm>
            <a:prstGeom prst="straightConnector1">
              <a:avLst/>
            </a:prstGeom>
            <a:noFill/>
            <a:ln w="57150" cap="flat" cmpd="sng">
              <a:solidFill>
                <a:srgbClr val="0B769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" name="Google Shape;27;p21"/>
            <p:cNvCxnSpPr/>
            <p:nvPr/>
          </p:nvCxnSpPr>
          <p:spPr>
            <a:xfrm>
              <a:off x="6339840" y="809170"/>
              <a:ext cx="5852160" cy="0"/>
            </a:xfrm>
            <a:prstGeom prst="straightConnector1">
              <a:avLst/>
            </a:prstGeom>
            <a:noFill/>
            <a:ln w="38100" cap="flat" cmpd="sng">
              <a:solidFill>
                <a:srgbClr val="A6CFC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8" name="Google Shape;28;p21"/>
          <p:cNvGrpSpPr/>
          <p:nvPr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29" name="Google Shape;29;p21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997681" y="6183837"/>
              <a:ext cx="546282" cy="5441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21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6790832" y="6183837"/>
              <a:ext cx="549981" cy="5486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21"/>
          <p:cNvSpPr txBox="1"/>
          <p:nvPr/>
        </p:nvSpPr>
        <p:spPr>
          <a:xfrm>
            <a:off x="137298" y="6203484"/>
            <a:ext cx="264040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 (NSDA)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/>
          <p:nvPr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3"/>
          <p:cNvSpPr/>
          <p:nvPr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3"/>
          <p:cNvSpPr txBox="1">
            <a:spLocks noGrp="1"/>
          </p:cNvSpPr>
          <p:nvPr>
            <p:ph type="ctrTitle"/>
          </p:nvPr>
        </p:nvSpPr>
        <p:spPr>
          <a:xfrm>
            <a:off x="3968750" y="2379789"/>
            <a:ext cx="71501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5400"/>
              <a:buFont typeface="Play"/>
              <a:buNone/>
              <a:defRPr sz="5400" b="1">
                <a:solidFill>
                  <a:srgbClr val="0351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subTitle" idx="1"/>
          </p:nvPr>
        </p:nvSpPr>
        <p:spPr>
          <a:xfrm>
            <a:off x="3968750" y="3550506"/>
            <a:ext cx="7150100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6CFC0"/>
              </a:buClr>
              <a:buSzPts val="2400"/>
              <a:buNone/>
              <a:defRPr sz="2400" b="0">
                <a:solidFill>
                  <a:srgbClr val="A6CFC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46" name="Google Shape;46;p23"/>
          <p:cNvCxnSpPr/>
          <p:nvPr/>
        </p:nvCxnSpPr>
        <p:spPr>
          <a:xfrm>
            <a:off x="2063750" y="3096483"/>
            <a:ext cx="1282700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" name="Google Shape;47;p23"/>
          <p:cNvSpPr/>
          <p:nvPr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2"/>
          </p:nvPr>
        </p:nvSpPr>
        <p:spPr>
          <a:xfrm>
            <a:off x="2051050" y="2542620"/>
            <a:ext cx="12827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3"/>
          </p:nvPr>
        </p:nvSpPr>
        <p:spPr>
          <a:xfrm>
            <a:off x="2051050" y="3276600"/>
            <a:ext cx="1270000" cy="10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  <a:defRPr sz="7200" b="1">
                <a:solidFill>
                  <a:srgbClr val="03516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/>
          <p:nvPr/>
        </p:nvSpPr>
        <p:spPr>
          <a:xfrm>
            <a:off x="137298" y="6203484"/>
            <a:ext cx="2411411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 (NSDA)</a:t>
            </a:r>
            <a:endParaRPr/>
          </a:p>
        </p:txBody>
      </p:sp>
      <p:grpSp>
        <p:nvGrpSpPr>
          <p:cNvPr id="51" name="Google Shape;51;p23"/>
          <p:cNvGrpSpPr/>
          <p:nvPr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52" name="Google Shape;52;p23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23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/>
          <p:nvPr/>
        </p:nvSpPr>
        <p:spPr>
          <a:xfrm rot="5400000">
            <a:off x="3480278" y="-3200878"/>
            <a:ext cx="1079500" cy="80400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4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4"/>
          <p:cNvSpPr/>
          <p:nvPr/>
        </p:nvSpPr>
        <p:spPr>
          <a:xfrm rot="5400000">
            <a:off x="3426266" y="-3235766"/>
            <a:ext cx="1079500" cy="7932032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24" descr="Download Free Abstract shape Special Flat icon Icons in PNG &amp; SVG"/>
          <p:cNvPicPr preferRelativeResize="0"/>
          <p:nvPr/>
        </p:nvPicPr>
        <p:blipFill rotWithShape="1">
          <a:blip r:embed="rId2">
            <a:alphaModFix amt="1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24" descr="Abstract shape - Free shapes and symbols icons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4990617" y="576915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1" name="Google Shape;61;p24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1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3" name="Google Shape;63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29101" t="1645" r="48019" b="75474"/>
          <a:stretch/>
        </p:blipFill>
        <p:spPr>
          <a:xfrm>
            <a:off x="6701767" y="5810699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4" name="Google Shape;64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5" name="Google Shape;65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5104" t="44021" r="11431" b="33099"/>
          <a:stretch/>
        </p:blipFill>
        <p:spPr>
          <a:xfrm>
            <a:off x="489055" y="1754701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6" name="Google Shape;66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3593981" y="5667375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7" name="Google Shape;67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8" name="Google Shape;68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9" name="Google Shape;69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0" name="Google Shape;70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1" name="Google Shape;71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2" name="Google Shape;72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3" name="Google Shape;73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7903610" y="312917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5" name="Google Shape;75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592138" y="3153735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6" name="Google Shape;76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8" name="Google Shape;78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139949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0" name="Google Shape;80;p24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28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4"/>
          <p:cNvSpPr txBox="1">
            <a:spLocks noGrp="1"/>
          </p:cNvSpPr>
          <p:nvPr>
            <p:ph type="body" idx="1"/>
          </p:nvPr>
        </p:nvSpPr>
        <p:spPr>
          <a:xfrm>
            <a:off x="655638" y="1684338"/>
            <a:ext cx="1067787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/>
          </a:p>
        </p:txBody>
      </p:sp>
      <p:grpSp>
        <p:nvGrpSpPr>
          <p:cNvPr id="83" name="Google Shape;83;p24"/>
          <p:cNvGrpSpPr/>
          <p:nvPr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84" name="Google Shape;84;p24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24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5"/>
          <p:cNvSpPr txBox="1">
            <a:spLocks noGrp="1"/>
          </p:cNvSpPr>
          <p:nvPr>
            <p:ph type="body" idx="1"/>
          </p:nvPr>
        </p:nvSpPr>
        <p:spPr>
          <a:xfrm>
            <a:off x="1030146" y="1825625"/>
            <a:ext cx="103236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5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5"/>
          <p:cNvSpPr/>
          <p:nvPr/>
        </p:nvSpPr>
        <p:spPr>
          <a:xfrm>
            <a:off x="1922264" y="179853"/>
            <a:ext cx="8347472" cy="1204890"/>
          </a:xfrm>
          <a:prstGeom prst="roundRect">
            <a:avLst>
              <a:gd name="adj" fmla="val 1951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" name="Google Shape;90;p25"/>
          <p:cNvGrpSpPr/>
          <p:nvPr/>
        </p:nvGrpSpPr>
        <p:grpSpPr>
          <a:xfrm>
            <a:off x="4548188" y="6534150"/>
            <a:ext cx="3095625" cy="323850"/>
            <a:chOff x="4886325" y="6534150"/>
            <a:chExt cx="3095625" cy="323850"/>
          </a:xfrm>
        </p:grpSpPr>
        <p:sp>
          <p:nvSpPr>
            <p:cNvPr id="91" name="Google Shape;91;p25"/>
            <p:cNvSpPr/>
            <p:nvPr/>
          </p:nvSpPr>
          <p:spPr>
            <a:xfrm rot="5400000" flipH="1">
              <a:off x="6877050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5"/>
            <p:cNvSpPr/>
            <p:nvPr/>
          </p:nvSpPr>
          <p:spPr>
            <a:xfrm rot="-5400000">
              <a:off x="5667375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25"/>
          <p:cNvSpPr txBox="1">
            <a:spLocks noGrp="1"/>
          </p:cNvSpPr>
          <p:nvPr>
            <p:ph type="title"/>
          </p:nvPr>
        </p:nvSpPr>
        <p:spPr>
          <a:xfrm>
            <a:off x="2640653" y="238645"/>
            <a:ext cx="7476053" cy="1068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3600"/>
              <a:buFont typeface="Arial"/>
              <a:buNone/>
              <a:defRPr sz="3600" b="1">
                <a:solidFill>
                  <a:srgbClr val="0351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5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/>
          </a:p>
        </p:txBody>
      </p:sp>
      <p:grpSp>
        <p:nvGrpSpPr>
          <p:cNvPr id="95" name="Google Shape;95;p25"/>
          <p:cNvGrpSpPr/>
          <p:nvPr/>
        </p:nvGrpSpPr>
        <p:grpSpPr>
          <a:xfrm>
            <a:off x="2075294" y="428355"/>
            <a:ext cx="348729" cy="732107"/>
            <a:chOff x="1942404" y="4303509"/>
            <a:chExt cx="467480" cy="981408"/>
          </a:xfrm>
        </p:grpSpPr>
        <p:pic>
          <p:nvPicPr>
            <p:cNvPr id="96" name="Google Shape;96;p25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25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1942404" y="4303509"/>
              <a:ext cx="458318" cy="4571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26"/>
          <p:cNvGrpSpPr/>
          <p:nvPr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100" name="Google Shape;100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t="6105" r="77120" b="71014"/>
            <a:stretch/>
          </p:blipFill>
          <p:spPr>
            <a:xfrm>
              <a:off x="4069544" y="1730274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1" name="Google Shape;101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6701767" y="5810699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2" name="Google Shape;102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2560513" y="411276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3" name="Google Shape;103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1" b="33099"/>
            <a:stretch/>
          </p:blipFill>
          <p:spPr>
            <a:xfrm>
              <a:off x="489055" y="1754701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4" name="Google Shape;104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3593981" y="5667375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5" name="Google Shape;105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9913853" y="271205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6" name="Google Shape;106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7156690" y="236969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7" name="Google Shape;107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5297988" y="4333517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8" name="Google Shape;108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1" b="33099"/>
            <a:stretch/>
          </p:blipFill>
          <p:spPr>
            <a:xfrm>
              <a:off x="8427406" y="1194495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9" name="Google Shape;109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8719037" y="4903250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10" name="Google Shape;110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6267072" y="211228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11" name="Google Shape;111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t="6105" r="77120" b="71014"/>
            <a:stretch/>
          </p:blipFill>
          <p:spPr>
            <a:xfrm>
              <a:off x="524906" y="509553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12" name="Google Shape;112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1" b="33099"/>
            <a:stretch/>
          </p:blipFill>
          <p:spPr>
            <a:xfrm>
              <a:off x="8547640" y="5420083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13" name="Google Shape;113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2000086" y="914244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14" name="Google Shape;114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9543811" y="1761186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15" name="Google Shape;115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5919214" y="56524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16" name="Google Shape;116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1925437" y="5786616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17" name="Google Shape;117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-254928" y="60853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</p:grpSp>
      <p:sp>
        <p:nvSpPr>
          <p:cNvPr id="118" name="Google Shape;118;p26"/>
          <p:cNvSpPr/>
          <p:nvPr/>
        </p:nvSpPr>
        <p:spPr>
          <a:xfrm>
            <a:off x="0" y="20029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p26"/>
          <p:cNvGrpSpPr/>
          <p:nvPr/>
        </p:nvGrpSpPr>
        <p:grpSpPr>
          <a:xfrm>
            <a:off x="10582731" y="4573911"/>
            <a:ext cx="1090382" cy="696686"/>
            <a:chOff x="10495645" y="4630059"/>
            <a:chExt cx="1090382" cy="696686"/>
          </a:xfrm>
        </p:grpSpPr>
        <p:sp>
          <p:nvSpPr>
            <p:cNvPr id="120" name="Google Shape;120;p26"/>
            <p:cNvSpPr/>
            <p:nvPr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6"/>
            <p:cNvSpPr/>
            <p:nvPr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6"/>
            <p:cNvSpPr/>
            <p:nvPr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3" name="Google Shape;123;p26" descr="Python Logo PNG Transparent – Brands Log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27655" y="5831621"/>
            <a:ext cx="640080" cy="6375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26"/>
          <p:cNvGrpSpPr/>
          <p:nvPr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25" name="Google Shape;125;p26"/>
            <p:cNvCxnSpPr/>
            <p:nvPr/>
          </p:nvCxnSpPr>
          <p:spPr>
            <a:xfrm>
              <a:off x="4876800" y="522514"/>
              <a:ext cx="73152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6" name="Google Shape;126;p26"/>
            <p:cNvCxnSpPr/>
            <p:nvPr/>
          </p:nvCxnSpPr>
          <p:spPr>
            <a:xfrm>
              <a:off x="5608320" y="667656"/>
              <a:ext cx="6583680" cy="0"/>
            </a:xfrm>
            <a:prstGeom prst="straightConnector1">
              <a:avLst/>
            </a:prstGeom>
            <a:noFill/>
            <a:ln w="57150" cap="flat" cmpd="sng">
              <a:solidFill>
                <a:srgbClr val="0B769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7" name="Google Shape;127;p26"/>
            <p:cNvCxnSpPr/>
            <p:nvPr/>
          </p:nvCxnSpPr>
          <p:spPr>
            <a:xfrm>
              <a:off x="6339840" y="809170"/>
              <a:ext cx="5852160" cy="0"/>
            </a:xfrm>
            <a:prstGeom prst="straightConnector1">
              <a:avLst/>
            </a:prstGeom>
            <a:noFill/>
            <a:ln w="38100" cap="flat" cmpd="sng">
              <a:solidFill>
                <a:srgbClr val="A6CFC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28" name="Google Shape;128;p26"/>
          <p:cNvSpPr txBox="1">
            <a:spLocks noGrp="1"/>
          </p:cNvSpPr>
          <p:nvPr>
            <p:ph type="ctrTitle"/>
          </p:nvPr>
        </p:nvSpPr>
        <p:spPr>
          <a:xfrm>
            <a:off x="4997677" y="2566833"/>
            <a:ext cx="7019744" cy="93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4000"/>
              <a:buFont typeface="Play"/>
              <a:buNone/>
              <a:defRPr sz="4000" b="1">
                <a:solidFill>
                  <a:srgbClr val="A6CF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6"/>
          <p:cNvSpPr txBox="1">
            <a:spLocks noGrp="1"/>
          </p:cNvSpPr>
          <p:nvPr>
            <p:ph type="subTitle" idx="1"/>
          </p:nvPr>
        </p:nvSpPr>
        <p:spPr>
          <a:xfrm>
            <a:off x="4997678" y="3716333"/>
            <a:ext cx="7019742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30" name="Google Shape;130;p26"/>
          <p:cNvGrpSpPr/>
          <p:nvPr/>
        </p:nvGrpSpPr>
        <p:grpSpPr>
          <a:xfrm>
            <a:off x="0" y="1792513"/>
            <a:ext cx="3675742" cy="3323772"/>
            <a:chOff x="0" y="1979288"/>
            <a:chExt cx="3675742" cy="3323772"/>
          </a:xfrm>
        </p:grpSpPr>
        <p:sp>
          <p:nvSpPr>
            <p:cNvPr id="131" name="Google Shape;131;p26"/>
            <p:cNvSpPr/>
            <p:nvPr/>
          </p:nvSpPr>
          <p:spPr>
            <a:xfrm>
              <a:off x="963840" y="1979288"/>
              <a:ext cx="1778000" cy="3323772"/>
            </a:xfrm>
            <a:prstGeom prst="parallelogram">
              <a:avLst>
                <a:gd name="adj" fmla="val 67922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6"/>
            <p:cNvSpPr/>
            <p:nvPr/>
          </p:nvSpPr>
          <p:spPr>
            <a:xfrm>
              <a:off x="1897742" y="1979288"/>
              <a:ext cx="1778000" cy="3323772"/>
            </a:xfrm>
            <a:prstGeom prst="parallelogram">
              <a:avLst>
                <a:gd name="adj" fmla="val 67922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6"/>
            <p:cNvSpPr/>
            <p:nvPr/>
          </p:nvSpPr>
          <p:spPr>
            <a:xfrm>
              <a:off x="0" y="1980649"/>
              <a:ext cx="1866900" cy="3321050"/>
            </a:xfrm>
            <a:custGeom>
              <a:avLst/>
              <a:gdLst/>
              <a:ahLst/>
              <a:cxnLst/>
              <a:rect l="l" t="t" r="r" b="b"/>
              <a:pathLst>
                <a:path w="1866900" h="3321050" extrusionOk="0">
                  <a:moveTo>
                    <a:pt x="1866900" y="0"/>
                  </a:moveTo>
                  <a:lnTo>
                    <a:pt x="0" y="0"/>
                  </a:lnTo>
                  <a:lnTo>
                    <a:pt x="0" y="3321050"/>
                  </a:lnTo>
                  <a:lnTo>
                    <a:pt x="679450" y="3321050"/>
                  </a:lnTo>
                  <a:lnTo>
                    <a:pt x="1866900" y="0"/>
                  </a:lnTo>
                  <a:close/>
                </a:path>
              </a:pathLst>
            </a:cu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26"/>
          <p:cNvSpPr txBox="1"/>
          <p:nvPr/>
        </p:nvSpPr>
        <p:spPr>
          <a:xfrm>
            <a:off x="3796619" y="2814220"/>
            <a:ext cx="1054781" cy="128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lang="en-US" sz="4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/>
          </a:p>
        </p:txBody>
      </p:sp>
      <p:cxnSp>
        <p:nvCxnSpPr>
          <p:cNvPr id="135" name="Google Shape;135;p26"/>
          <p:cNvCxnSpPr/>
          <p:nvPr/>
        </p:nvCxnSpPr>
        <p:spPr>
          <a:xfrm>
            <a:off x="4900749" y="2538088"/>
            <a:ext cx="0" cy="2206172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6" name="Google Shape;136;p26"/>
          <p:cNvSpPr txBox="1"/>
          <p:nvPr/>
        </p:nvSpPr>
        <p:spPr>
          <a:xfrm>
            <a:off x="137297" y="6203484"/>
            <a:ext cx="27439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 (NSDA)</a:t>
            </a:r>
            <a:endParaRPr/>
          </a:p>
        </p:txBody>
      </p:sp>
      <p:pic>
        <p:nvPicPr>
          <p:cNvPr id="137" name="Google Shape;137;p26" descr="Django Icon #266158 - Free Icons Library"/>
          <p:cNvPicPr preferRelativeResize="0"/>
          <p:nvPr/>
        </p:nvPicPr>
        <p:blipFill rotWithShape="1">
          <a:blip r:embed="rId4">
            <a:alphaModFix/>
          </a:blip>
          <a:srcRect l="3957" t="3918" r="4002" b="4265"/>
          <a:stretch/>
        </p:blipFill>
        <p:spPr>
          <a:xfrm>
            <a:off x="10034700" y="5810245"/>
            <a:ext cx="641645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/>
          <p:nvPr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7"/>
          <p:cNvSpPr/>
          <p:nvPr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7"/>
          <p:cNvSpPr txBox="1">
            <a:spLocks noGrp="1"/>
          </p:cNvSpPr>
          <p:nvPr>
            <p:ph type="ctrTitle"/>
          </p:nvPr>
        </p:nvSpPr>
        <p:spPr>
          <a:xfrm>
            <a:off x="3968750" y="2379789"/>
            <a:ext cx="71501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5400"/>
              <a:buFont typeface="Play"/>
              <a:buNone/>
              <a:defRPr sz="5400" b="1">
                <a:solidFill>
                  <a:srgbClr val="0351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subTitle" idx="1"/>
          </p:nvPr>
        </p:nvSpPr>
        <p:spPr>
          <a:xfrm>
            <a:off x="3968750" y="3550506"/>
            <a:ext cx="7150100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6CFC0"/>
              </a:buClr>
              <a:buSzPts val="2400"/>
              <a:buNone/>
              <a:defRPr sz="2400" b="0">
                <a:solidFill>
                  <a:srgbClr val="A6CFC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3" name="Google Shape;143;p27"/>
          <p:cNvSpPr/>
          <p:nvPr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7"/>
          <p:cNvSpPr txBox="1">
            <a:spLocks noGrp="1"/>
          </p:cNvSpPr>
          <p:nvPr>
            <p:ph type="body" idx="2"/>
          </p:nvPr>
        </p:nvSpPr>
        <p:spPr>
          <a:xfrm>
            <a:off x="2038350" y="2492550"/>
            <a:ext cx="12827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27"/>
          <p:cNvSpPr txBox="1">
            <a:spLocks noGrp="1"/>
          </p:cNvSpPr>
          <p:nvPr>
            <p:ph type="body" idx="3"/>
          </p:nvPr>
        </p:nvSpPr>
        <p:spPr>
          <a:xfrm>
            <a:off x="2051050" y="3276600"/>
            <a:ext cx="1270000" cy="10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  <a:defRPr sz="7200" b="1">
                <a:solidFill>
                  <a:srgbClr val="03516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7"/>
          <p:cNvSpPr txBox="1"/>
          <p:nvPr/>
        </p:nvSpPr>
        <p:spPr>
          <a:xfrm>
            <a:off x="112144" y="6143102"/>
            <a:ext cx="2475782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 Authority (NSDA)</a:t>
            </a:r>
            <a:endParaRPr/>
          </a:p>
        </p:txBody>
      </p:sp>
      <p:grpSp>
        <p:nvGrpSpPr>
          <p:cNvPr id="147" name="Google Shape;147;p27"/>
          <p:cNvGrpSpPr/>
          <p:nvPr/>
        </p:nvGrpSpPr>
        <p:grpSpPr>
          <a:xfrm>
            <a:off x="2213413" y="4839956"/>
            <a:ext cx="983374" cy="457200"/>
            <a:chOff x="1950885" y="4827717"/>
            <a:chExt cx="983374" cy="457200"/>
          </a:xfrm>
        </p:grpSpPr>
        <p:pic>
          <p:nvPicPr>
            <p:cNvPr id="148" name="Google Shape;148;p27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27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28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8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5" name="Google Shape;155;p28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7" name="Google Shape;157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8" name="Google Shape;158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9" name="Google Shape;159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0" name="Google Shape;160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1" name="Google Shape;161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2" name="Google Shape;162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3" name="Google Shape;163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4" name="Google Shape;164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5" name="Google Shape;165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6" name="Google Shape;166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7" name="Google Shape;167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9" name="Google Shape;169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0" name="Google Shape;170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2" name="Google Shape;172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3" name="Google Shape;173;p28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8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8"/>
          <p:cNvSpPr/>
          <p:nvPr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8"/>
          <p:cNvSpPr txBox="1">
            <a:spLocks noGrp="1"/>
          </p:cNvSpPr>
          <p:nvPr>
            <p:ph type="body" idx="1"/>
          </p:nvPr>
        </p:nvSpPr>
        <p:spPr>
          <a:xfrm>
            <a:off x="858838" y="1487488"/>
            <a:ext cx="10506075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8"/>
          <p:cNvSpPr/>
          <p:nvPr/>
        </p:nvSpPr>
        <p:spPr>
          <a:xfrm rot="10800000" flipH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8"/>
          <p:cNvSpPr txBox="1"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8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/>
          </a:p>
        </p:txBody>
      </p:sp>
      <p:grpSp>
        <p:nvGrpSpPr>
          <p:cNvPr id="180" name="Google Shape;180;p28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181" name="Google Shape;181;p28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8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Content">
  <p:cSld name="7_Title and Content">
    <p:bg>
      <p:bgPr>
        <a:solidFill>
          <a:schemeClr val="lt1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29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9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8" name="Google Shape;188;p29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0" name="Google Shape;190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1" name="Google Shape;191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2" name="Google Shape;192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3" name="Google Shape;193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4" name="Google Shape;194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5" name="Google Shape;195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6" name="Google Shape;196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7" name="Google Shape;197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8" name="Google Shape;198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9" name="Google Shape;199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00" name="Google Shape;200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02" name="Google Shape;202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03" name="Google Shape;203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05" name="Google Shape;205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06" name="Google Shape;206;p29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9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9"/>
          <p:cNvSpPr/>
          <p:nvPr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9"/>
          <p:cNvSpPr/>
          <p:nvPr/>
        </p:nvSpPr>
        <p:spPr>
          <a:xfrm rot="10800000" flipH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9"/>
          <p:cNvSpPr txBox="1"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9"/>
          <p:cNvSpPr txBox="1">
            <a:spLocks noGrp="1"/>
          </p:cNvSpPr>
          <p:nvPr>
            <p:ph type="body" idx="1"/>
          </p:nvPr>
        </p:nvSpPr>
        <p:spPr>
          <a:xfrm>
            <a:off x="858838" y="1487488"/>
            <a:ext cx="10506075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29"/>
          <p:cNvSpPr/>
          <p:nvPr/>
        </p:nvSpPr>
        <p:spPr>
          <a:xfrm rot="10800000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9"/>
          <p:cNvSpPr/>
          <p:nvPr/>
        </p:nvSpPr>
        <p:spPr>
          <a:xfrm rot="10800000" flipH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/>
          </a:p>
        </p:txBody>
      </p:sp>
      <p:grpSp>
        <p:nvGrpSpPr>
          <p:cNvPr id="215" name="Google Shape;215;p29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216" name="Google Shape;216;p29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9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bg>
      <p:bgPr>
        <a:solidFill>
          <a:schemeClr val="lt1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0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0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3" name="Google Shape;223;p30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5" name="Google Shape;225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6" name="Google Shape;226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7" name="Google Shape;227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8" name="Google Shape;228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9" name="Google Shape;229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0" name="Google Shape;230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1" name="Google Shape;231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2" name="Google Shape;232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3" name="Google Shape;233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4" name="Google Shape;234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5" name="Google Shape;235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7" name="Google Shape;237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8" name="Google Shape;238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0" name="Google Shape;240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1" name="Google Shape;241;p30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0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0"/>
          <p:cNvSpPr/>
          <p:nvPr/>
        </p:nvSpPr>
        <p:spPr>
          <a:xfrm>
            <a:off x="583725" y="480309"/>
            <a:ext cx="11024550" cy="5897383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0"/>
          <p:cNvSpPr txBox="1">
            <a:spLocks noGrp="1"/>
          </p:cNvSpPr>
          <p:nvPr>
            <p:ph type="body" idx="1"/>
          </p:nvPr>
        </p:nvSpPr>
        <p:spPr>
          <a:xfrm>
            <a:off x="858838" y="857871"/>
            <a:ext cx="10506075" cy="5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30"/>
          <p:cNvSpPr/>
          <p:nvPr/>
        </p:nvSpPr>
        <p:spPr>
          <a:xfrm rot="10800000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0"/>
          <p:cNvSpPr/>
          <p:nvPr/>
        </p:nvSpPr>
        <p:spPr>
          <a:xfrm rot="10800000" flipH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0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/>
          </a:p>
        </p:txBody>
      </p:sp>
      <p:grpSp>
        <p:nvGrpSpPr>
          <p:cNvPr id="248" name="Google Shape;248;p30"/>
          <p:cNvGrpSpPr/>
          <p:nvPr/>
        </p:nvGrpSpPr>
        <p:grpSpPr>
          <a:xfrm>
            <a:off x="5604313" y="6196873"/>
            <a:ext cx="983374" cy="457200"/>
            <a:chOff x="1950885" y="4827717"/>
            <a:chExt cx="983374" cy="457200"/>
          </a:xfrm>
        </p:grpSpPr>
        <p:pic>
          <p:nvPicPr>
            <p:cNvPr id="249" name="Google Shape;249;p30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30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solidFill>
          <a:schemeClr val="lt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3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7903610" y="312917"/>
            <a:ext cx="850955" cy="758467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3" name="Google Shape;253;p31"/>
          <p:cNvSpPr/>
          <p:nvPr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1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1"/>
          <p:cNvSpPr/>
          <p:nvPr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31" descr="Download Free Abstract shape Special Flat icon Icons in PNG &amp; SVG"/>
          <p:cNvPicPr preferRelativeResize="0"/>
          <p:nvPr/>
        </p:nvPicPr>
        <p:blipFill rotWithShape="1">
          <a:blip r:embed="rId3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1" descr="Abstract shape - Free shapes and symbols icons"/>
          <p:cNvPicPr preferRelativeResize="0"/>
          <p:nvPr/>
        </p:nvPicPr>
        <p:blipFill rotWithShape="1">
          <a:blip r:embed="rId4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9" name="Google Shape;259;p31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1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61" name="Google Shape;261;p3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2" name="Google Shape;262;p3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3" name="Google Shape;263;p3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4" name="Google Shape;264;p3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5" name="Google Shape;265;p3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6" name="Google Shape;266;p3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7" name="Google Shape;267;p3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8" name="Google Shape;268;p3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9" name="Google Shape;269;p3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0" name="Google Shape;270;p3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1" name="Google Shape;271;p3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2" name="Google Shape;272;p3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4" name="Google Shape;274;p3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6" name="Google Shape;276;p3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7" name="Google Shape;277;p31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1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1"/>
          <p:cNvSpPr/>
          <p:nvPr/>
        </p:nvSpPr>
        <p:spPr>
          <a:xfrm>
            <a:off x="583725" y="1631713"/>
            <a:ext cx="11024550" cy="491337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1"/>
          <p:cNvSpPr txBox="1">
            <a:spLocks noGrp="1"/>
          </p:cNvSpPr>
          <p:nvPr>
            <p:ph type="body" idx="1"/>
          </p:nvPr>
        </p:nvSpPr>
        <p:spPr>
          <a:xfrm>
            <a:off x="858838" y="1881595"/>
            <a:ext cx="10342562" cy="437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1" name="Google Shape;281;p31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/>
          </a:p>
        </p:txBody>
      </p:sp>
      <p:grpSp>
        <p:nvGrpSpPr>
          <p:cNvPr id="282" name="Google Shape;282;p31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283" name="Google Shape;283;p31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31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bg>
      <p:bgPr>
        <a:solidFill>
          <a:schemeClr val="lt1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2"/>
          <p:cNvSpPr/>
          <p:nvPr/>
        </p:nvSpPr>
        <p:spPr>
          <a:xfrm rot="5400000">
            <a:off x="3105150" y="-2825750"/>
            <a:ext cx="1079500" cy="728980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2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2"/>
          <p:cNvSpPr/>
          <p:nvPr/>
        </p:nvSpPr>
        <p:spPr>
          <a:xfrm rot="5400000">
            <a:off x="3056178" y="-2865678"/>
            <a:ext cx="1079500" cy="71918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2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90" name="Google Shape;290;p32" descr="Python White Icons – Free Download SVG, PNG, GIF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2"/>
          <p:cNvSpPr txBox="1">
            <a:spLocks noGrp="1"/>
          </p:cNvSpPr>
          <p:nvPr>
            <p:ph type="body" idx="1"/>
          </p:nvPr>
        </p:nvSpPr>
        <p:spPr>
          <a:xfrm>
            <a:off x="655638" y="1684338"/>
            <a:ext cx="1067787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2" name="Google Shape;292;p32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/>
          </a:p>
        </p:txBody>
      </p:sp>
      <p:grpSp>
        <p:nvGrpSpPr>
          <p:cNvPr id="293" name="Google Shape;293;p32"/>
          <p:cNvGrpSpPr/>
          <p:nvPr/>
        </p:nvGrpSpPr>
        <p:grpSpPr>
          <a:xfrm>
            <a:off x="84742" y="5667375"/>
            <a:ext cx="467480" cy="1083963"/>
            <a:chOff x="1942404" y="4200954"/>
            <a:chExt cx="467480" cy="1083963"/>
          </a:xfrm>
        </p:grpSpPr>
        <p:pic>
          <p:nvPicPr>
            <p:cNvPr id="294" name="Google Shape;294;p32" descr="Python Logo PNG Transparent – Brands Logo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32" descr="Django Icon #266158 - Free Icons Library"/>
            <p:cNvPicPr preferRelativeResize="0"/>
            <p:nvPr/>
          </p:nvPicPr>
          <p:blipFill rotWithShape="1">
            <a:blip r:embed="rId4">
              <a:alphaModFix/>
            </a:blip>
            <a:srcRect l="3957" t="3918" r="4002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9" name="Google Shape;299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 txBox="1">
            <a:spLocks noGrp="1"/>
          </p:cNvSpPr>
          <p:nvPr>
            <p:ph type="body" idx="1"/>
          </p:nvPr>
        </p:nvSpPr>
        <p:spPr>
          <a:xfrm>
            <a:off x="1030146" y="1825625"/>
            <a:ext cx="103236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34"/>
          <p:cNvSpPr txBox="1">
            <a:spLocks noGrp="1"/>
          </p:cNvSpPr>
          <p:nvPr>
            <p:ph type="sldNum" idx="12"/>
          </p:nvPr>
        </p:nvSpPr>
        <p:spPr>
          <a:xfrm>
            <a:off x="8263483" y="63787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7" name="Google Shape;30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1978" y="5349878"/>
            <a:ext cx="1203644" cy="11929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p34"/>
          <p:cNvGrpSpPr/>
          <p:nvPr/>
        </p:nvGrpSpPr>
        <p:grpSpPr>
          <a:xfrm>
            <a:off x="365760" y="527031"/>
            <a:ext cx="8528857" cy="1198094"/>
            <a:chOff x="365761" y="527031"/>
            <a:chExt cx="6370320" cy="1198094"/>
          </a:xfrm>
        </p:grpSpPr>
        <p:sp>
          <p:nvSpPr>
            <p:cNvPr id="309" name="Google Shape;309;p34"/>
            <p:cNvSpPr/>
            <p:nvPr/>
          </p:nvSpPr>
          <p:spPr>
            <a:xfrm>
              <a:off x="457201" y="612605"/>
              <a:ext cx="6278880" cy="1112520"/>
            </a:xfrm>
            <a:prstGeom prst="roundRect">
              <a:avLst>
                <a:gd name="adj" fmla="val 16667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4"/>
            <p:cNvSpPr/>
            <p:nvPr/>
          </p:nvSpPr>
          <p:spPr>
            <a:xfrm>
              <a:off x="365761" y="527031"/>
              <a:ext cx="6278880" cy="1112520"/>
            </a:xfrm>
            <a:prstGeom prst="roundRect">
              <a:avLst>
                <a:gd name="adj" fmla="val 16667"/>
              </a:avLst>
            </a:prstGeom>
            <a:solidFill>
              <a:srgbClr val="0042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sp>
        <p:nvSpPr>
          <p:cNvPr id="311" name="Google Shape;311;p34"/>
          <p:cNvSpPr txBox="1">
            <a:spLocks noGrp="1"/>
          </p:cNvSpPr>
          <p:nvPr>
            <p:ph type="title"/>
          </p:nvPr>
        </p:nvSpPr>
        <p:spPr>
          <a:xfrm>
            <a:off x="711199" y="578168"/>
            <a:ext cx="7795491" cy="1068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"/>
          <p:cNvSpPr txBox="1">
            <a:spLocks noGrp="1"/>
          </p:cNvSpPr>
          <p:nvPr>
            <p:ph type="title"/>
          </p:nvPr>
        </p:nvSpPr>
        <p:spPr>
          <a:xfrm>
            <a:off x="393539" y="1709738"/>
            <a:ext cx="3368233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sz="36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35"/>
          <p:cNvSpPr txBox="1">
            <a:spLocks noGrp="1"/>
          </p:cNvSpPr>
          <p:nvPr>
            <p:ph type="body" idx="1"/>
          </p:nvPr>
        </p:nvSpPr>
        <p:spPr>
          <a:xfrm>
            <a:off x="4490977" y="2386012"/>
            <a:ext cx="758141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15" name="Google Shape;315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17" name="Google Shape;317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1978" y="5349878"/>
            <a:ext cx="1203644" cy="1192993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5"/>
          <p:cNvSpPr txBox="1">
            <a:spLocks noGrp="1"/>
          </p:cNvSpPr>
          <p:nvPr>
            <p:ph type="sldNum" idx="12"/>
          </p:nvPr>
        </p:nvSpPr>
        <p:spPr>
          <a:xfrm>
            <a:off x="8263483" y="63787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2" name="Google Shape;322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3" name="Google Shape;323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3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9" name="Google Shape;329;p3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3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1" name="Google Shape;331;p3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4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47" name="Google Shape;347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48" name="Google Shape;348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4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55" name="Google Shape;355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4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1" name="Google Shape;361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4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49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  <p:sldLayoutId id="2147483661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  <p:sldLayoutId id="2147483670" r:id="rId26"/>
    <p:sldLayoutId id="2147483671" r:id="rId2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"/>
          <p:cNvSpPr txBox="1">
            <a:spLocks noGrp="1"/>
          </p:cNvSpPr>
          <p:nvPr>
            <p:ph type="ctrTitle"/>
          </p:nvPr>
        </p:nvSpPr>
        <p:spPr>
          <a:xfrm>
            <a:off x="-1" y="2149642"/>
            <a:ext cx="12191999" cy="23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4800"/>
              <a:buFont typeface="Play"/>
              <a:buNone/>
            </a:pPr>
            <a:r>
              <a:rPr lang="en-US" sz="4400" dirty="0"/>
              <a:t>Welcome to the</a:t>
            </a:r>
            <a:br>
              <a:rPr lang="en-US" sz="4400" dirty="0"/>
            </a:br>
            <a:r>
              <a:rPr lang="en-US" sz="4000" dirty="0">
                <a:solidFill>
                  <a:schemeClr val="lt1"/>
                </a:solidFill>
              </a:rPr>
              <a:t>Web Application Development with Python L-4</a:t>
            </a:r>
            <a:r>
              <a:rPr lang="en-US" sz="4400" dirty="0"/>
              <a:t/>
            </a:r>
            <a:br>
              <a:rPr lang="en-US" sz="4400" dirty="0"/>
            </a:br>
            <a:r>
              <a:rPr lang="en-US" sz="4000" dirty="0"/>
              <a:t>Training Program</a:t>
            </a:r>
            <a:endParaRPr sz="4400" dirty="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841D65C5-C1EE-88FA-7A1B-1FE3F8C3A2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Arial"/>
                <a:cs typeface="Arial"/>
                <a:sym typeface="Arial"/>
              </a:rPr>
              <a:t>Function in Python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A1AEC77C-F742-388B-E28D-8EAFB7BB80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4" name="Google Shape;384;p3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lang="en-US"/>
              <a:t>Lecture</a:t>
            </a:r>
            <a:endParaRPr/>
          </a:p>
        </p:txBody>
      </p:sp>
      <p:sp>
        <p:nvSpPr>
          <p:cNvPr id="385" name="Google Shape;385;p3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</a:pPr>
            <a:r>
              <a:rPr lang="en-US" dirty="0"/>
              <a:t>10</a:t>
            </a:r>
            <a:endParaRPr dirty="0"/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 function is a reusable block of code that performs a specific task. Functions help in reducing code duplication and improving code organization.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5715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A function is a block of code which only runs when it is called.</a:t>
            </a:r>
            <a:endParaRPr dirty="0"/>
          </a:p>
          <a:p>
            <a:pPr marL="5715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You can pass data, known as parameters, into a function.</a:t>
            </a:r>
            <a:endParaRPr dirty="0"/>
          </a:p>
          <a:p>
            <a:pPr marL="5715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A function can return data as a result</a:t>
            </a:r>
            <a:endParaRPr dirty="0"/>
          </a:p>
        </p:txBody>
      </p:sp>
      <p:sp>
        <p:nvSpPr>
          <p:cNvPr id="391" name="Google Shape;391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dirty="0"/>
              <a:t>What is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Function?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Pts val="1800"/>
              <a:buChar char="●"/>
            </a:pPr>
            <a:r>
              <a:rPr lang="en-US" dirty="0"/>
              <a:t>Avoid code repetition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800"/>
              <a:buChar char="●"/>
            </a:pPr>
            <a:r>
              <a:rPr lang="en-US" dirty="0"/>
              <a:t>Improve readability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800"/>
              <a:buChar char="●"/>
            </a:pPr>
            <a:r>
              <a:rPr lang="en-US" dirty="0"/>
              <a:t>Make debugging easier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800"/>
              <a:buChar char="●"/>
            </a:pPr>
            <a:r>
              <a:rPr lang="en-US" dirty="0"/>
              <a:t>Reuse logic multiple times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800"/>
              <a:buChar char="●"/>
            </a:pPr>
            <a:r>
              <a:rPr lang="en-US" dirty="0"/>
              <a:t>Organize large programs</a:t>
            </a:r>
            <a:endParaRPr dirty="0"/>
          </a:p>
        </p:txBody>
      </p:sp>
      <p:sp>
        <p:nvSpPr>
          <p:cNvPr id="397" name="Google Shape;397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dirty="0"/>
              <a:t>Why used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Functions?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Char char="•"/>
            </a:pPr>
            <a:r>
              <a:rPr lang="en-US" b="1" dirty="0"/>
              <a:t>Built-in functions </a:t>
            </a:r>
            <a:r>
              <a:rPr lang="en-US" dirty="0"/>
              <a:t>(e.g., print(), </a:t>
            </a:r>
            <a:r>
              <a:rPr lang="en-US" dirty="0" err="1"/>
              <a:t>len</a:t>
            </a:r>
            <a:r>
              <a:rPr lang="en-US" dirty="0"/>
              <a:t>(), type())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Char char="•"/>
            </a:pPr>
            <a:r>
              <a:rPr lang="en-US" b="1" dirty="0"/>
              <a:t>User-defined functions </a:t>
            </a:r>
            <a:r>
              <a:rPr lang="en-US" dirty="0"/>
              <a:t>(functions you define yourself)</a:t>
            </a:r>
            <a:endParaRPr dirty="0"/>
          </a:p>
        </p:txBody>
      </p:sp>
      <p:sp>
        <p:nvSpPr>
          <p:cNvPr id="403" name="Google Shape;403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dirty="0"/>
              <a:t>Types of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Function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In Python a function is defined using the 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def</a:t>
            </a:r>
            <a:r>
              <a:rPr lang="en-US" dirty="0"/>
              <a:t> keyword:</a:t>
            </a:r>
            <a:endParaRPr dirty="0"/>
          </a:p>
        </p:txBody>
      </p:sp>
      <p:sp>
        <p:nvSpPr>
          <p:cNvPr id="409" name="Google Shape;409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/>
              <a:t>Create a </a:t>
            </a:r>
            <a:r>
              <a:rPr lang="en-US">
                <a:solidFill>
                  <a:srgbClr val="96C6B5"/>
                </a:solidFill>
              </a:rPr>
              <a:t>Function</a:t>
            </a:r>
            <a:endParaRPr>
              <a:solidFill>
                <a:srgbClr val="96C6B5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8C3B00A-45A1-CFAB-ED69-1F2C40271BC9}"/>
              </a:ext>
            </a:extLst>
          </p:cNvPr>
          <p:cNvGrpSpPr/>
          <p:nvPr/>
        </p:nvGrpSpPr>
        <p:grpSpPr>
          <a:xfrm>
            <a:off x="946484" y="2470547"/>
            <a:ext cx="9879862" cy="3321844"/>
            <a:chOff x="946484" y="2470547"/>
            <a:chExt cx="9879862" cy="3321844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xmlns="" id="{45512AB0-7B2F-1DD7-0909-D16B5144135B}"/>
                </a:ext>
              </a:extLst>
            </p:cNvPr>
            <p:cNvSpPr/>
            <p:nvPr/>
          </p:nvSpPr>
          <p:spPr>
            <a:xfrm>
              <a:off x="946484" y="2470547"/>
              <a:ext cx="9663546" cy="3321844"/>
            </a:xfrm>
            <a:prstGeom prst="roundRect">
              <a:avLst>
                <a:gd name="adj" fmla="val 13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1" name="Google Shape;411;p7" descr="Create a Python Function 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62800" y="2470547"/>
              <a:ext cx="9663546" cy="332184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8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call a function, use the function name followed by parenthesis:</a:t>
            </a:r>
            <a:endParaRPr/>
          </a:p>
        </p:txBody>
      </p:sp>
      <p:sp>
        <p:nvSpPr>
          <p:cNvPr id="416" name="Google Shape;416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dirty="0"/>
              <a:t>Calling a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Function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8B49CFC0-CFC8-979F-5D18-4A399DD49BA5}"/>
              </a:ext>
            </a:extLst>
          </p:cNvPr>
          <p:cNvGrpSpPr/>
          <p:nvPr/>
        </p:nvGrpSpPr>
        <p:grpSpPr>
          <a:xfrm>
            <a:off x="946484" y="2470547"/>
            <a:ext cx="9663546" cy="3321844"/>
            <a:chOff x="946484" y="2470547"/>
            <a:chExt cx="9663546" cy="3321844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xmlns="" id="{BB6CAD85-17D0-27A3-239C-4BA05968930D}"/>
                </a:ext>
              </a:extLst>
            </p:cNvPr>
            <p:cNvSpPr/>
            <p:nvPr/>
          </p:nvSpPr>
          <p:spPr>
            <a:xfrm>
              <a:off x="946484" y="2470547"/>
              <a:ext cx="9663546" cy="3321844"/>
            </a:xfrm>
            <a:prstGeom prst="roundRect">
              <a:avLst>
                <a:gd name="adj" fmla="val 13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8" name="Google Shape;418;p8" descr="Python Function Worki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75292" y="2583575"/>
              <a:ext cx="9005929" cy="309578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0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parameter is the variable listed inside the parentheses in the function definition.</a:t>
            </a:r>
            <a:endParaRPr/>
          </a:p>
        </p:txBody>
      </p:sp>
      <p:sp>
        <p:nvSpPr>
          <p:cNvPr id="435" name="Google Shape;435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dirty="0"/>
              <a:t>Python Function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Parameters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37" name="Google Shape;437;p10" descr="A computer screen shot of a black screen with colorful 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63077" y="2621376"/>
            <a:ext cx="3655072" cy="2833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8" name="Google Shape;438;p10"/>
          <p:cNvGrpSpPr/>
          <p:nvPr/>
        </p:nvGrpSpPr>
        <p:grpSpPr>
          <a:xfrm>
            <a:off x="4758612" y="3620277"/>
            <a:ext cx="4273093" cy="369291"/>
            <a:chOff x="4758612" y="3620277"/>
            <a:chExt cx="4273093" cy="369291"/>
          </a:xfrm>
        </p:grpSpPr>
        <p:sp>
          <p:nvSpPr>
            <p:cNvPr id="439" name="Google Shape;439;p10"/>
            <p:cNvSpPr/>
            <p:nvPr/>
          </p:nvSpPr>
          <p:spPr>
            <a:xfrm>
              <a:off x="4758612" y="3732246"/>
              <a:ext cx="494524" cy="205273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0" name="Google Shape;440;p10"/>
            <p:cNvCxnSpPr>
              <a:stCxn id="439" idx="3"/>
            </p:cNvCxnSpPr>
            <p:nvPr/>
          </p:nvCxnSpPr>
          <p:spPr>
            <a:xfrm>
              <a:off x="5253136" y="3834883"/>
              <a:ext cx="2211300" cy="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41" name="Google Shape;441;p10"/>
            <p:cNvSpPr txBox="1"/>
            <p:nvPr/>
          </p:nvSpPr>
          <p:spPr>
            <a:xfrm>
              <a:off x="7500729" y="3620277"/>
              <a:ext cx="1530976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Parameter</a:t>
              </a:r>
              <a:endParaRPr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7AB311E6-E65C-55B2-D67F-6459809188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Default parameter values are used if no argument is provided.</a:t>
            </a:r>
          </a:p>
        </p:txBody>
      </p:sp>
      <p:sp>
        <p:nvSpPr>
          <p:cNvPr id="446" name="Google Shape;446;p11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798552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3600"/>
              <a:buFont typeface="Arial"/>
              <a:buNone/>
            </a:pPr>
            <a:r>
              <a:rPr lang="en-US" dirty="0"/>
              <a:t>Function with Default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Parameters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47" name="Google Shape;447;p11" descr="A screenshot of a computer progra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4080" y="2425749"/>
            <a:ext cx="7582094" cy="4132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>
          <a:extLst>
            <a:ext uri="{FF2B5EF4-FFF2-40B4-BE49-F238E27FC236}">
              <a16:creationId xmlns:a16="http://schemas.microsoft.com/office/drawing/2014/main" xmlns="" id="{4480FE39-5474-ACFB-DA73-586E3C8E0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9A9510A-9FBA-4847-4BF7-25A9DA5F1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46" name="Google Shape;446;p11">
            <a:extLst>
              <a:ext uri="{FF2B5EF4-FFF2-40B4-BE49-F238E27FC236}">
                <a16:creationId xmlns:a16="http://schemas.microsoft.com/office/drawing/2014/main" xmlns="" id="{90032CE2-AD2F-BEC2-92C2-233FFE40B2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798552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3600"/>
              <a:buFont typeface="Arial"/>
              <a:buNone/>
            </a:pPr>
            <a:r>
              <a:rPr lang="en-US" sz="3000" dirty="0"/>
              <a:t>Function with </a:t>
            </a:r>
            <a:r>
              <a:rPr lang="en-US" sz="3000" dirty="0">
                <a:solidFill>
                  <a:schemeClr val="bg1">
                    <a:lumMod val="50000"/>
                  </a:schemeClr>
                </a:solidFill>
              </a:rPr>
              <a:t>Multiple</a:t>
            </a:r>
            <a:r>
              <a:rPr lang="en-US" sz="3000" dirty="0"/>
              <a:t> </a:t>
            </a:r>
            <a:r>
              <a:rPr lang="en-US" sz="3000" dirty="0">
                <a:solidFill>
                  <a:schemeClr val="bg1">
                    <a:lumMod val="50000"/>
                  </a:schemeClr>
                </a:solidFill>
              </a:rPr>
              <a:t>Parameters</a:t>
            </a:r>
            <a:endParaRPr sz="3000"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47" name="Google Shape;447;p11">
            <a:extLst>
              <a:ext uri="{FF2B5EF4-FFF2-40B4-BE49-F238E27FC236}">
                <a16:creationId xmlns:a16="http://schemas.microsoft.com/office/drawing/2014/main" xmlns="" id="{72ECA4D5-C63B-8BC9-244D-3C133802E1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2171195" y="2425749"/>
            <a:ext cx="6007863" cy="41327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11937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9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Char char="•"/>
            </a:pPr>
            <a:r>
              <a:rPr lang="en-US" dirty="0"/>
              <a:t>In computer programming, an argument is a value that is accepted by a function. 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Char char="•"/>
            </a:pPr>
            <a:r>
              <a:rPr lang="en-US" dirty="0"/>
              <a:t>Arguments are inputs given to the function.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Char char="•"/>
            </a:pPr>
            <a:r>
              <a:rPr lang="en-US" dirty="0"/>
              <a:t>Arguments are specified after the function name, inside the parentheses. You can add as many arguments as you want, just separate them with a comma.</a:t>
            </a:r>
            <a:endParaRPr dirty="0"/>
          </a:p>
        </p:txBody>
      </p:sp>
      <p:sp>
        <p:nvSpPr>
          <p:cNvPr id="423" name="Google Shape;423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dirty="0"/>
              <a:t>Python Function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Argument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25" name="Google Shape;425;p9" descr="A computer screen shot of a black screen with colorful 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89036" y="3875136"/>
            <a:ext cx="3655072" cy="2833574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9"/>
          <p:cNvSpPr txBox="1"/>
          <p:nvPr/>
        </p:nvSpPr>
        <p:spPr>
          <a:xfrm>
            <a:off x="655637" y="4645592"/>
            <a:ext cx="49333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**</a:t>
            </a:r>
            <a:r>
              <a:rPr lang="en-US" sz="1800" b="1" i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Arguments</a:t>
            </a:r>
            <a:r>
              <a:rPr lang="en-US" sz="1800" i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 are often shortened to </a:t>
            </a:r>
            <a:r>
              <a:rPr lang="en-US" sz="1800" b="1" i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args</a:t>
            </a:r>
            <a:r>
              <a:rPr lang="en-US" sz="1800" i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 in Python documentations.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7" name="Google Shape;427;p9"/>
          <p:cNvGrpSpPr/>
          <p:nvPr/>
        </p:nvGrpSpPr>
        <p:grpSpPr>
          <a:xfrm>
            <a:off x="6727371" y="5924939"/>
            <a:ext cx="4582313" cy="369291"/>
            <a:chOff x="4627983" y="3620277"/>
            <a:chExt cx="4582313" cy="369291"/>
          </a:xfrm>
        </p:grpSpPr>
        <p:sp>
          <p:nvSpPr>
            <p:cNvPr id="428" name="Google Shape;428;p9"/>
            <p:cNvSpPr/>
            <p:nvPr/>
          </p:nvSpPr>
          <p:spPr>
            <a:xfrm>
              <a:off x="4627983" y="3704252"/>
              <a:ext cx="699796" cy="233267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9" name="Google Shape;429;p9"/>
            <p:cNvCxnSpPr>
              <a:stCxn id="428" idx="3"/>
            </p:cNvCxnSpPr>
            <p:nvPr/>
          </p:nvCxnSpPr>
          <p:spPr>
            <a:xfrm>
              <a:off x="5327779" y="3820886"/>
              <a:ext cx="2136600" cy="141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30" name="Google Shape;430;p9"/>
            <p:cNvSpPr txBox="1"/>
            <p:nvPr/>
          </p:nvSpPr>
          <p:spPr>
            <a:xfrm>
              <a:off x="7500729" y="3620277"/>
              <a:ext cx="1709567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Argument</a:t>
              </a:r>
              <a:endParaRPr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2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By default, a function must be called with the correct number of arguments. Meaning that if your function expects 2 arguments, you have to call the function with 2 arguments, not more, and not less.</a:t>
            </a:r>
            <a:endParaRPr/>
          </a:p>
        </p:txBody>
      </p:sp>
      <p:sp>
        <p:nvSpPr>
          <p:cNvPr id="452" name="Google Shape;452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b="0" dirty="0"/>
              <a:t>Number of 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</a:rPr>
              <a:t>Arguments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54" name="Google Shape;454;p12" descr="A screen shot of a computer progra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52325" y="2913499"/>
            <a:ext cx="5970426" cy="3562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 algn="just">
              <a:spcBef>
                <a:spcPts val="0"/>
              </a:spcBef>
              <a:buClr>
                <a:schemeClr val="bg1"/>
              </a:buClr>
            </a:pPr>
            <a:r>
              <a:rPr lang="en-US" dirty="0"/>
              <a:t>In keyword arguments, arguments are assigned based on the name of the arguments. </a:t>
            </a:r>
            <a:endParaRPr dirty="0"/>
          </a:p>
          <a:p>
            <a:pPr indent="-457200" algn="just">
              <a:buClr>
                <a:schemeClr val="bg1"/>
              </a:buClr>
            </a:pPr>
            <a:r>
              <a:rPr lang="en-US" dirty="0"/>
              <a:t>You can also send arguments with the </a:t>
            </a:r>
            <a:r>
              <a:rPr lang="en-US" b="1" i="1" dirty="0"/>
              <a:t>key</a:t>
            </a:r>
            <a:r>
              <a:rPr lang="en-US" b="1" dirty="0"/>
              <a:t> = </a:t>
            </a:r>
            <a:r>
              <a:rPr lang="en-US" b="1" i="1" dirty="0"/>
              <a:t>value</a:t>
            </a:r>
            <a:r>
              <a:rPr lang="en-US" b="1" dirty="0"/>
              <a:t> syntax</a:t>
            </a:r>
            <a:r>
              <a:rPr lang="en-US" dirty="0"/>
              <a:t>.</a:t>
            </a:r>
            <a:endParaRPr dirty="0"/>
          </a:p>
          <a:p>
            <a:pPr indent="-457200" algn="just">
              <a:buClr>
                <a:schemeClr val="bg1"/>
              </a:buClr>
            </a:pPr>
            <a:r>
              <a:rPr lang="en-US" dirty="0"/>
              <a:t>This way the order of the arguments does not matter.</a:t>
            </a:r>
            <a:endParaRPr dirty="0"/>
          </a:p>
        </p:txBody>
      </p:sp>
      <p:sp>
        <p:nvSpPr>
          <p:cNvPr id="459" name="Google Shape;459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b="0" dirty="0"/>
              <a:t>Python Keyword 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</a:rPr>
              <a:t>Arguments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61" name="Google Shape;461;p13" descr="A computer screen shot of a computer cod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7749" y="3550987"/>
            <a:ext cx="6153344" cy="3027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2BCEA3FB-B5FF-B9FA-4CCC-F96FF135D8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66" name="Google Shape;466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3600"/>
              <a:buFont typeface="Arial"/>
              <a:buNone/>
            </a:pPr>
            <a:r>
              <a:rPr lang="en-US" dirty="0"/>
              <a:t>Function Argument with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Default Values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67" name="Google Shape;467;p14" descr="A screenshot of a computer progra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61438" y="1524677"/>
            <a:ext cx="5434482" cy="511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5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Char char="•"/>
            </a:pPr>
            <a:r>
              <a:rPr lang="en-US" dirty="0"/>
              <a:t>If you do not know how many arguments that will be passed into your function, add a </a:t>
            </a:r>
            <a:r>
              <a:rPr lang="en-US" b="1" dirty="0">
                <a:solidFill>
                  <a:srgbClr val="FF0000"/>
                </a:solidFill>
              </a:rPr>
              <a:t>*</a:t>
            </a:r>
            <a:r>
              <a:rPr lang="en-US" dirty="0"/>
              <a:t> before the parameter name in the function definition.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Char char="•"/>
            </a:pPr>
            <a:r>
              <a:rPr lang="en-US" dirty="0"/>
              <a:t>This way the function will receive a </a:t>
            </a:r>
            <a:r>
              <a:rPr lang="en-US" b="1" dirty="0"/>
              <a:t>tuple</a:t>
            </a:r>
            <a:r>
              <a:rPr lang="en-US" dirty="0"/>
              <a:t> of arguments, and can access the items accordingly:</a:t>
            </a:r>
            <a:endParaRPr dirty="0"/>
          </a:p>
        </p:txBody>
      </p:sp>
      <p:sp>
        <p:nvSpPr>
          <p:cNvPr id="472" name="Google Shape;472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b="0" dirty="0"/>
              <a:t>Arbitrary Arguments,</a:t>
            </a:r>
            <a:r>
              <a:rPr lang="en-US" b="0" dirty="0">
                <a:solidFill>
                  <a:srgbClr val="96C6B5"/>
                </a:solidFill>
              </a:rPr>
              <a:t> 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en-US" b="0" dirty="0" err="1">
                <a:solidFill>
                  <a:schemeClr val="bg1">
                    <a:lumMod val="50000"/>
                  </a:schemeClr>
                </a:solidFill>
              </a:rPr>
              <a:t>args</a:t>
            </a:r>
            <a:endParaRPr b="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74" name="Google Shape;474;p15" descr="A screenshot of a computer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100" y="3888303"/>
            <a:ext cx="5343416" cy="23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15" descr="A screenshot of a computer program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65978" y="3460217"/>
            <a:ext cx="3730414" cy="3426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6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Char char="•"/>
            </a:pPr>
            <a:r>
              <a:rPr lang="en-US" dirty="0"/>
              <a:t>If you do not know how many keyword arguments that will be passed into your function, add two asterisk: </a:t>
            </a:r>
            <a:r>
              <a:rPr lang="en-US" b="1" dirty="0">
                <a:solidFill>
                  <a:srgbClr val="FF0000"/>
                </a:solidFill>
              </a:rPr>
              <a:t>**</a:t>
            </a:r>
            <a:r>
              <a:rPr lang="en-US" dirty="0"/>
              <a:t> before the parameter name in the function definition.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Char char="•"/>
            </a:pPr>
            <a:r>
              <a:rPr lang="en-US" dirty="0"/>
              <a:t>This way the function will receive a </a:t>
            </a:r>
            <a:r>
              <a:rPr lang="en-US" b="1" dirty="0"/>
              <a:t>dictionary</a:t>
            </a:r>
            <a:r>
              <a:rPr lang="en-US" dirty="0"/>
              <a:t> of arguments, and can access the items accordingly:</a:t>
            </a:r>
            <a:endParaRPr dirty="0"/>
          </a:p>
        </p:txBody>
      </p:sp>
      <p:sp>
        <p:nvSpPr>
          <p:cNvPr id="480" name="Google Shape;480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b="0" dirty="0"/>
              <a:t>Arbitrary Keyword Arguments, 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</a:rPr>
              <a:t>**</a:t>
            </a:r>
            <a:r>
              <a:rPr lang="en-US" b="0" dirty="0" err="1">
                <a:solidFill>
                  <a:schemeClr val="bg1">
                    <a:lumMod val="50000"/>
                  </a:schemeClr>
                </a:solidFill>
              </a:rPr>
              <a:t>kwargs</a:t>
            </a:r>
            <a:endParaRPr b="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82" name="Google Shape;482;p16" descr="A screen shot of a computer progra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4696" y="3736382"/>
            <a:ext cx="7039753" cy="2842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7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return a value from the function using the return statement.</a:t>
            </a:r>
            <a:endParaRPr/>
          </a:p>
        </p:txBody>
      </p:sp>
      <p:sp>
        <p:nvSpPr>
          <p:cNvPr id="487" name="Google Shape;487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dirty="0"/>
              <a:t>The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return</a:t>
            </a:r>
            <a:r>
              <a:rPr lang="en-US" dirty="0"/>
              <a:t> Statement</a:t>
            </a:r>
            <a:endParaRPr dirty="0"/>
          </a:p>
        </p:txBody>
      </p:sp>
      <p:pic>
        <p:nvPicPr>
          <p:cNvPr id="489" name="Google Shape;489;p17" descr="A screenshot of a computer progra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1076" y="2115250"/>
            <a:ext cx="4177587" cy="446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8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pass statement serves as a placeholder for future code, preventing errors from empty code blocks.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It's typically used where code is planned but has yet to be written.</a:t>
            </a:r>
            <a:endParaRPr/>
          </a:p>
        </p:txBody>
      </p:sp>
      <p:sp>
        <p:nvSpPr>
          <p:cNvPr id="494" name="Google Shape;494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dirty="0"/>
              <a:t>The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pass</a:t>
            </a:r>
            <a:r>
              <a:rPr lang="en-US" dirty="0"/>
              <a:t> Statement</a:t>
            </a:r>
            <a:endParaRPr dirty="0"/>
          </a:p>
        </p:txBody>
      </p:sp>
      <p:pic>
        <p:nvPicPr>
          <p:cNvPr id="496" name="Google Shape;496;p18" descr="A screen shot of a computer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97552" y="3429000"/>
            <a:ext cx="4825464" cy="26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6600"/>
              <a:buFont typeface="Play"/>
              <a:buNone/>
            </a:pPr>
            <a:r>
              <a:rPr lang="en-US" sz="6600"/>
              <a:t>Thanks All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422</Words>
  <Application>Microsoft Office PowerPoint</Application>
  <PresentationFormat>Custom</PresentationFormat>
  <Paragraphs>54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Play</vt:lpstr>
      <vt:lpstr>Arial Black</vt:lpstr>
      <vt:lpstr>Verdana</vt:lpstr>
      <vt:lpstr>Roboto Black</vt:lpstr>
      <vt:lpstr>Office Theme</vt:lpstr>
      <vt:lpstr>Welcome to the Web Application Development with Python L-4 Training Program</vt:lpstr>
      <vt:lpstr>Function in Python</vt:lpstr>
      <vt:lpstr>What is Function?</vt:lpstr>
      <vt:lpstr>Why used Functions?</vt:lpstr>
      <vt:lpstr>Types of Function</vt:lpstr>
      <vt:lpstr>Create a Function</vt:lpstr>
      <vt:lpstr>Calling a Function</vt:lpstr>
      <vt:lpstr>Python Function Parameters</vt:lpstr>
      <vt:lpstr>Function with Default Parameters</vt:lpstr>
      <vt:lpstr>Function with Multiple Parameters</vt:lpstr>
      <vt:lpstr>Python Function Argument</vt:lpstr>
      <vt:lpstr>Number of Arguments</vt:lpstr>
      <vt:lpstr>Python Keyword Arguments</vt:lpstr>
      <vt:lpstr>Function Argument with Default Values</vt:lpstr>
      <vt:lpstr>Arbitrary Arguments, *args</vt:lpstr>
      <vt:lpstr>Arbitrary Keyword Arguments, **kwargs</vt:lpstr>
      <vt:lpstr>The return Statement</vt:lpstr>
      <vt:lpstr>The pass Statement</vt:lpstr>
      <vt:lpstr>Thanks All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Web Application Development with Python L-4 Training Program</dc:title>
  <dc:creator>MD SHAKIL</dc:creator>
  <cp:lastModifiedBy>Reaz</cp:lastModifiedBy>
  <cp:revision>11</cp:revision>
  <dcterms:created xsi:type="dcterms:W3CDTF">2024-08-22T18:44:27Z</dcterms:created>
  <dcterms:modified xsi:type="dcterms:W3CDTF">2026-04-27T06:36:19Z</dcterms:modified>
</cp:coreProperties>
</file>